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9" r:id="rId4"/>
    <p:sldId id="260" r:id="rId5"/>
    <p:sldId id="276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733" autoAdjust="0"/>
  </p:normalViewPr>
  <p:slideViewPr>
    <p:cSldViewPr snapToGrid="0" snapToObjects="1">
      <p:cViewPr varScale="1">
        <p:scale>
          <a:sx n="111" d="100"/>
          <a:sy n="111" d="100"/>
        </p:scale>
        <p:origin x="869" y="8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3066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E0EE5-0156-72C5-85E6-19E22FEFB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99E2F2-160E-42F3-51C1-24F71DFC85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7B47E-2493-F33C-C912-862AF0C9A9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49E53D-E4F1-675D-5EA0-57B2AAB518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262368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2C3E50"/>
                </a:solidFill>
                <a:latin typeface="Calibri"/>
              </a:rPr>
              <a:t>A Robust Fetal ECG Detection Method for Abdominal Recordings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408679"/>
            <a:ext cx="1463040" cy="5080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3591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i="1" dirty="0">
                <a:solidFill>
                  <a:srgbClr val="5A6B78"/>
                </a:solidFill>
                <a:latin typeface="Calibri"/>
              </a:rPr>
              <a:t>Reproducing and evaluating Martens et al. (2007) on the </a:t>
            </a:r>
            <a:r>
              <a:rPr sz="1900" i="1" dirty="0" err="1">
                <a:solidFill>
                  <a:srgbClr val="5A6B78"/>
                </a:solidFill>
                <a:latin typeface="Calibri"/>
              </a:rPr>
              <a:t>CinC</a:t>
            </a:r>
            <a:r>
              <a:rPr sz="1900" i="1" dirty="0">
                <a:solidFill>
                  <a:srgbClr val="5A6B78"/>
                </a:solidFill>
                <a:latin typeface="Calibri"/>
              </a:rPr>
              <a:t> 2013 dataset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235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dirty="0">
                <a:solidFill>
                  <a:srgbClr val="2C3E50"/>
                </a:solidFill>
                <a:latin typeface="Calibri"/>
              </a:rPr>
              <a:t>Federico Cerutti - 85644A</a:t>
            </a:r>
          </a:p>
          <a:p>
            <a:r>
              <a:rPr sz="1300" dirty="0">
                <a:solidFill>
                  <a:srgbClr val="5A6B78"/>
                </a:solidFill>
                <a:latin typeface="Calibri"/>
              </a:rPr>
              <a:t>Biomedical Signal Processing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19016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 err="1">
                <a:solidFill>
                  <a:srgbClr val="2C3E50"/>
                </a:solidFill>
                <a:latin typeface="Calibri"/>
              </a:rPr>
              <a:t>Introduction</a:t>
            </a:r>
            <a:endParaRPr sz="2800" b="1" dirty="0">
              <a:solidFill>
                <a:srgbClr val="2C3E50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005840" cy="3810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6858" y="1693690"/>
            <a:ext cx="6578524" cy="17543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13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300" dirty="0">
                <a:solidFill>
                  <a:srgbClr val="2C3E50"/>
                </a:solidFill>
                <a:latin typeface="Calibri"/>
              </a:rPr>
              <a:t>Fetal cardiac activity </a:t>
            </a:r>
            <a:r>
              <a:rPr lang="it-IT" sz="1300" dirty="0" err="1">
                <a:solidFill>
                  <a:srgbClr val="2C3E50"/>
                </a:solidFill>
                <a:latin typeface="Calibri"/>
              </a:rPr>
              <a:t>is</a:t>
            </a:r>
            <a:r>
              <a:rPr lang="it-IT" sz="1300" dirty="0">
                <a:solidFill>
                  <a:srgbClr val="2C3E50"/>
                </a:solidFill>
                <a:latin typeface="Calibri"/>
              </a:rPr>
              <a:t> a</a:t>
            </a:r>
            <a:r>
              <a:rPr sz="1300" dirty="0">
                <a:solidFill>
                  <a:srgbClr val="2C3E50"/>
                </a:solidFill>
                <a:latin typeface="Calibri"/>
              </a:rPr>
              <a:t> key indicator of fetal </a:t>
            </a:r>
            <a:r>
              <a:rPr sz="1300" i="1" dirty="0">
                <a:solidFill>
                  <a:srgbClr val="2C3E50"/>
                </a:solidFill>
                <a:latin typeface="Calibri"/>
              </a:rPr>
              <a:t>well‑being</a:t>
            </a:r>
          </a:p>
          <a:p>
            <a:pPr marL="274320" indent="-274320">
              <a:spcAft>
                <a:spcPts val="1200"/>
              </a:spcAft>
            </a:pPr>
            <a:r>
              <a:rPr sz="1300" dirty="0">
                <a:solidFill>
                  <a:srgbClr val="16A085"/>
                </a:solidFill>
                <a:latin typeface="Calibri"/>
              </a:rPr>
              <a:t>▪ </a:t>
            </a:r>
            <a:r>
              <a:rPr lang="it-IT" sz="1300" dirty="0">
                <a:solidFill>
                  <a:srgbClr val="16A085"/>
                </a:solidFill>
                <a:latin typeface="Calibri"/>
              </a:rPr>
              <a:t> </a:t>
            </a:r>
            <a:r>
              <a:rPr lang="it-IT" sz="1300" dirty="0">
                <a:solidFill>
                  <a:srgbClr val="2C3E50"/>
                </a:solidFill>
                <a:latin typeface="Calibri"/>
              </a:rPr>
              <a:t>R</a:t>
            </a:r>
            <a:r>
              <a:rPr lang="it-IT" sz="1300" dirty="0">
                <a:solidFill>
                  <a:srgbClr val="2C3E50"/>
                </a:solidFill>
              </a:rPr>
              <a:t>outine</a:t>
            </a:r>
            <a:r>
              <a:rPr lang="it-IT" sz="1300" dirty="0">
                <a:solidFill>
                  <a:srgbClr val="16A085"/>
                </a:solidFill>
                <a:latin typeface="Calibri"/>
              </a:rPr>
              <a:t> </a:t>
            </a:r>
            <a:r>
              <a:rPr sz="1300" dirty="0">
                <a:solidFill>
                  <a:srgbClr val="2C3E50"/>
                </a:solidFill>
                <a:latin typeface="Calibri"/>
              </a:rPr>
              <a:t>Doppler ultrasound</a:t>
            </a:r>
            <a:r>
              <a:rPr lang="it-IT" sz="1300" dirty="0">
                <a:solidFill>
                  <a:srgbClr val="2C3E50"/>
                </a:solidFill>
                <a:latin typeface="Calibri"/>
              </a:rPr>
              <a:t> </a:t>
            </a:r>
            <a:r>
              <a:rPr lang="it-IT" sz="1300" dirty="0" err="1">
                <a:solidFill>
                  <a:srgbClr val="2C3E50"/>
                </a:solidFill>
                <a:latin typeface="Calibri"/>
              </a:rPr>
              <a:t>only</a:t>
            </a:r>
            <a:r>
              <a:rPr lang="it-IT" sz="1300" dirty="0">
                <a:solidFill>
                  <a:srgbClr val="2C3E50"/>
                </a:solidFill>
                <a:latin typeface="Calibri"/>
              </a:rPr>
              <a:t> </a:t>
            </a:r>
            <a:r>
              <a:rPr lang="it-IT" sz="1300" dirty="0" err="1">
                <a:solidFill>
                  <a:srgbClr val="2C3E50"/>
                </a:solidFill>
                <a:latin typeface="Calibri"/>
              </a:rPr>
              <a:t>provides</a:t>
            </a:r>
            <a:r>
              <a:rPr sz="1300" dirty="0">
                <a:solidFill>
                  <a:srgbClr val="2C3E50"/>
                </a:solidFill>
                <a:latin typeface="Calibri"/>
              </a:rPr>
              <a:t> </a:t>
            </a:r>
            <a:r>
              <a:rPr lang="it-IT" sz="1300" dirty="0">
                <a:solidFill>
                  <a:srgbClr val="2C3E50"/>
                </a:solidFill>
                <a:latin typeface="Calibri"/>
              </a:rPr>
              <a:t>the </a:t>
            </a:r>
            <a:r>
              <a:rPr lang="it-IT" sz="1300" b="1" dirty="0" err="1">
                <a:solidFill>
                  <a:srgbClr val="2C3E50"/>
                </a:solidFill>
                <a:latin typeface="Calibri"/>
              </a:rPr>
              <a:t>Fetal</a:t>
            </a:r>
            <a:r>
              <a:rPr lang="it-IT" sz="1300" b="1" dirty="0">
                <a:solidFill>
                  <a:srgbClr val="2C3E50"/>
                </a:solidFill>
                <a:latin typeface="Calibri"/>
              </a:rPr>
              <a:t> </a:t>
            </a:r>
            <a:r>
              <a:rPr sz="1300" b="1" dirty="0">
                <a:solidFill>
                  <a:srgbClr val="2C3E50"/>
                </a:solidFill>
                <a:latin typeface="Calibri"/>
              </a:rPr>
              <a:t>heart rate</a:t>
            </a:r>
            <a:r>
              <a:rPr lang="it-IT" sz="1300" b="1" dirty="0">
                <a:solidFill>
                  <a:srgbClr val="2C3E50"/>
                </a:solidFill>
                <a:latin typeface="Calibri"/>
              </a:rPr>
              <a:t> (FHR)</a:t>
            </a:r>
            <a:r>
              <a:rPr sz="1300" dirty="0">
                <a:solidFill>
                  <a:srgbClr val="2C3E50"/>
                </a:solidFill>
                <a:latin typeface="Calibri"/>
              </a:rPr>
              <a:t>, not morphology</a:t>
            </a:r>
          </a:p>
          <a:p>
            <a:pPr marL="274320" indent="-274320">
              <a:spcAft>
                <a:spcPts val="1200"/>
              </a:spcAft>
            </a:pPr>
            <a:r>
              <a:rPr sz="13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300" b="1" dirty="0">
                <a:solidFill>
                  <a:srgbClr val="2C3E50"/>
                </a:solidFill>
                <a:latin typeface="Calibri"/>
              </a:rPr>
              <a:t>Fetal ECG</a:t>
            </a:r>
            <a:r>
              <a:rPr lang="it-IT" sz="1300" b="1" dirty="0">
                <a:solidFill>
                  <a:srgbClr val="2C3E50"/>
                </a:solidFill>
                <a:latin typeface="Calibri"/>
              </a:rPr>
              <a:t> (FECG)</a:t>
            </a:r>
            <a:r>
              <a:rPr sz="1300" b="1" dirty="0">
                <a:solidFill>
                  <a:srgbClr val="2C3E50"/>
                </a:solidFill>
                <a:latin typeface="Calibri"/>
              </a:rPr>
              <a:t> </a:t>
            </a:r>
            <a:r>
              <a:rPr sz="1300" dirty="0">
                <a:solidFill>
                  <a:srgbClr val="2C3E50"/>
                </a:solidFill>
                <a:latin typeface="Calibri"/>
              </a:rPr>
              <a:t>carries </a:t>
            </a:r>
            <a:r>
              <a:rPr sz="1300" i="1" dirty="0">
                <a:solidFill>
                  <a:srgbClr val="2C3E50"/>
                </a:solidFill>
                <a:latin typeface="Calibri"/>
              </a:rPr>
              <a:t>PR/QRS/ST</a:t>
            </a:r>
            <a:r>
              <a:rPr sz="1300" dirty="0">
                <a:solidFill>
                  <a:srgbClr val="2C3E50"/>
                </a:solidFill>
                <a:latin typeface="Calibri"/>
              </a:rPr>
              <a:t> </a:t>
            </a:r>
            <a:r>
              <a:rPr sz="1300" i="1" dirty="0">
                <a:solidFill>
                  <a:srgbClr val="2C3E50"/>
                </a:solidFill>
                <a:latin typeface="Calibri"/>
              </a:rPr>
              <a:t>morphology</a:t>
            </a:r>
            <a:r>
              <a:rPr lang="it-IT" sz="1300" dirty="0">
                <a:solidFill>
                  <a:srgbClr val="2C3E50"/>
                </a:solidFill>
                <a:latin typeface="Calibri"/>
              </a:rPr>
              <a:t>, </a:t>
            </a:r>
            <a:r>
              <a:rPr lang="it-IT" sz="1300" dirty="0" err="1">
                <a:solidFill>
                  <a:srgbClr val="2C3E50"/>
                </a:solidFill>
                <a:latin typeface="Calibri"/>
              </a:rPr>
              <a:t>which</a:t>
            </a:r>
            <a:r>
              <a:rPr lang="it-IT" sz="1300" dirty="0">
                <a:solidFill>
                  <a:srgbClr val="2C3E50"/>
                </a:solidFill>
                <a:latin typeface="Calibri"/>
              </a:rPr>
              <a:t> are </a:t>
            </a:r>
            <a:r>
              <a:rPr lang="it-IT" sz="1300" dirty="0" err="1">
                <a:solidFill>
                  <a:srgbClr val="2C3E50"/>
                </a:solidFill>
                <a:latin typeface="Calibri"/>
              </a:rPr>
              <a:t>directly</a:t>
            </a:r>
            <a:r>
              <a:rPr lang="it-IT" sz="1300" dirty="0">
                <a:solidFill>
                  <a:srgbClr val="2C3E50"/>
                </a:solidFill>
                <a:latin typeface="Calibri"/>
              </a:rPr>
              <a:t> </a:t>
            </a:r>
            <a:r>
              <a:rPr sz="1300" dirty="0">
                <a:solidFill>
                  <a:srgbClr val="2C3E50"/>
                </a:solidFill>
                <a:latin typeface="Calibri"/>
              </a:rPr>
              <a:t>linked to </a:t>
            </a:r>
            <a:r>
              <a:rPr sz="1300" i="1" dirty="0">
                <a:solidFill>
                  <a:srgbClr val="2C3E50"/>
                </a:solidFill>
                <a:latin typeface="Calibri"/>
              </a:rPr>
              <a:t>fetal oxygenation</a:t>
            </a:r>
          </a:p>
          <a:p>
            <a:pPr marL="274320" indent="-274320">
              <a:spcAft>
                <a:spcPts val="1200"/>
              </a:spcAft>
            </a:pPr>
            <a:r>
              <a:rPr sz="13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300" i="1" dirty="0">
                <a:solidFill>
                  <a:srgbClr val="2C3E50"/>
                </a:solidFill>
                <a:latin typeface="Calibri"/>
              </a:rPr>
              <a:t>Abdominal FECG</a:t>
            </a:r>
            <a:r>
              <a:rPr sz="1300" dirty="0">
                <a:solidFill>
                  <a:srgbClr val="2C3E50"/>
                </a:solidFill>
                <a:latin typeface="Calibri"/>
              </a:rPr>
              <a:t> </a:t>
            </a:r>
            <a:r>
              <a:rPr lang="it-IT" sz="1300" dirty="0" err="1">
                <a:solidFill>
                  <a:srgbClr val="2C3E50"/>
                </a:solidFill>
                <a:latin typeface="Calibri"/>
              </a:rPr>
              <a:t>is</a:t>
            </a:r>
            <a:r>
              <a:rPr lang="it-IT" sz="1300" dirty="0">
                <a:solidFill>
                  <a:srgbClr val="2C3E50"/>
                </a:solidFill>
                <a:latin typeface="Calibri"/>
              </a:rPr>
              <a:t> a </a:t>
            </a:r>
            <a:r>
              <a:rPr sz="1300" i="1" u="sng" dirty="0">
                <a:solidFill>
                  <a:srgbClr val="2C3E50"/>
                </a:solidFill>
                <a:latin typeface="Calibri"/>
              </a:rPr>
              <a:t>non‑invasive</a:t>
            </a:r>
            <a:r>
              <a:rPr lang="it-IT" sz="1300" dirty="0">
                <a:solidFill>
                  <a:srgbClr val="2C3E50"/>
                </a:solidFill>
                <a:latin typeface="Calibri"/>
              </a:rPr>
              <a:t> </a:t>
            </a:r>
            <a:r>
              <a:rPr lang="it-IT" sz="1300" dirty="0" err="1">
                <a:solidFill>
                  <a:srgbClr val="2C3E50"/>
                </a:solidFill>
                <a:latin typeface="Calibri"/>
              </a:rPr>
              <a:t>method</a:t>
            </a:r>
            <a:r>
              <a:rPr lang="it-IT" sz="1300" dirty="0">
                <a:solidFill>
                  <a:srgbClr val="2C3E50"/>
                </a:solidFill>
                <a:latin typeface="Calibri"/>
              </a:rPr>
              <a:t> </a:t>
            </a:r>
            <a:r>
              <a:rPr sz="1300" dirty="0">
                <a:solidFill>
                  <a:srgbClr val="2C3E50"/>
                </a:solidFill>
                <a:latin typeface="Calibri"/>
              </a:rPr>
              <a:t>usable throughout pregnancy </a:t>
            </a:r>
            <a:r>
              <a:rPr sz="1300" i="1" dirty="0">
                <a:solidFill>
                  <a:srgbClr val="2C3E50"/>
                </a:solidFill>
                <a:latin typeface="Calibri"/>
              </a:rPr>
              <a:t>and</a:t>
            </a:r>
            <a:r>
              <a:rPr sz="1300" dirty="0">
                <a:solidFill>
                  <a:srgbClr val="2C3E50"/>
                </a:solidFill>
                <a:latin typeface="Calibri"/>
              </a:rPr>
              <a:t> </a:t>
            </a:r>
            <a:r>
              <a:rPr sz="1300" dirty="0" err="1">
                <a:solidFill>
                  <a:srgbClr val="2C3E50"/>
                </a:solidFill>
                <a:latin typeface="Calibri"/>
              </a:rPr>
              <a:t>labour</a:t>
            </a:r>
            <a:r>
              <a:rPr sz="1300" dirty="0">
                <a:solidFill>
                  <a:srgbClr val="2C3E50"/>
                </a:solidFill>
                <a:latin typeface="Calibri"/>
              </a:rPr>
              <a:t> (vs. </a:t>
            </a:r>
            <a:r>
              <a:rPr sz="1300" i="1" dirty="0">
                <a:solidFill>
                  <a:srgbClr val="2C3E50"/>
                </a:solidFill>
                <a:latin typeface="Calibri"/>
              </a:rPr>
              <a:t>invasive scalp</a:t>
            </a:r>
            <a:r>
              <a:rPr sz="1300" dirty="0">
                <a:solidFill>
                  <a:srgbClr val="2C3E50"/>
                </a:solidFill>
                <a:latin typeface="Calibri"/>
              </a:rPr>
              <a:t> electrode, </a:t>
            </a:r>
            <a:r>
              <a:rPr sz="1300" dirty="0" err="1">
                <a:solidFill>
                  <a:srgbClr val="2C3E50"/>
                </a:solidFill>
                <a:latin typeface="Calibri"/>
              </a:rPr>
              <a:t>labour</a:t>
            </a:r>
            <a:r>
              <a:rPr sz="1300" dirty="0">
                <a:solidFill>
                  <a:srgbClr val="2C3E50"/>
                </a:solidFill>
                <a:latin typeface="Calibri"/>
              </a:rPr>
              <a:t>‑only)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A6B78"/>
                </a:solidFill>
                <a:latin typeface="Calibri"/>
              </a:rPr>
              <a:t>Robust Fetal ECG Detection -- Sequential Analysis vs. 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B78"/>
                </a:solidFill>
                <a:latin typeface="Calibri"/>
              </a:rPr>
              <a:t>2</a:t>
            </a:r>
          </a:p>
        </p:txBody>
      </p:sp>
      <p:sp>
        <p:nvSpPr>
          <p:cNvPr id="11" name="Rectangle 5">
            <a:extLst>
              <a:ext uri="{FF2B5EF4-FFF2-40B4-BE49-F238E27FC236}">
                <a16:creationId xmlns:a16="http://schemas.microsoft.com/office/drawing/2014/main" id="{C4B5D112-4728-263C-CD7E-DAC876A63184}"/>
              </a:ext>
            </a:extLst>
          </p:cNvPr>
          <p:cNvSpPr/>
          <p:nvPr/>
        </p:nvSpPr>
        <p:spPr>
          <a:xfrm>
            <a:off x="7772229" y="2626136"/>
            <a:ext cx="3642913" cy="174967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rgbClr val="FF0000"/>
              </a:solidFill>
            </a:endParaRP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8075387A-2165-3D0D-8CA8-F9F960F6C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7149" y="2703185"/>
            <a:ext cx="3513069" cy="1595578"/>
          </a:xfrm>
          <a:prstGeom prst="rect">
            <a:avLst/>
          </a:prstGeom>
        </p:spPr>
      </p:pic>
      <p:sp>
        <p:nvSpPr>
          <p:cNvPr id="15" name="TextBox 7">
            <a:extLst>
              <a:ext uri="{FF2B5EF4-FFF2-40B4-BE49-F238E27FC236}">
                <a16:creationId xmlns:a16="http://schemas.microsoft.com/office/drawing/2014/main" id="{47D2C1C4-710C-1587-FC7B-0C7CA2BD5F84}"/>
              </a:ext>
            </a:extLst>
          </p:cNvPr>
          <p:cNvSpPr txBox="1"/>
          <p:nvPr/>
        </p:nvSpPr>
        <p:spPr>
          <a:xfrm>
            <a:off x="8274228" y="4402034"/>
            <a:ext cx="263891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 dirty="0">
                <a:solidFill>
                  <a:srgbClr val="5A6B78"/>
                </a:solidFill>
                <a:latin typeface="Calibri"/>
              </a:rPr>
              <a:t>Figure </a:t>
            </a:r>
            <a:r>
              <a:rPr lang="it-IT" sz="1100" i="1" dirty="0">
                <a:solidFill>
                  <a:srgbClr val="5A6B78"/>
                </a:solidFill>
                <a:latin typeface="Calibri"/>
              </a:rPr>
              <a:t>0</a:t>
            </a:r>
            <a:r>
              <a:rPr sz="1100" i="1" dirty="0">
                <a:solidFill>
                  <a:srgbClr val="5A6B78"/>
                </a:solidFill>
                <a:latin typeface="Calibri"/>
              </a:rPr>
              <a:t>. </a:t>
            </a:r>
            <a:r>
              <a:rPr lang="it-IT" sz="1100" i="1" dirty="0">
                <a:solidFill>
                  <a:srgbClr val="5A6B78"/>
                </a:solidFill>
                <a:latin typeface="Calibri"/>
              </a:rPr>
              <a:t>nomenclature of the ECG.</a:t>
            </a:r>
            <a:endParaRPr sz="1100" i="1" dirty="0">
              <a:solidFill>
                <a:srgbClr val="5A6B78"/>
              </a:solidFill>
              <a:latin typeface="Calibri"/>
            </a:endParaRPr>
          </a:p>
        </p:txBody>
      </p:sp>
      <p:sp>
        <p:nvSpPr>
          <p:cNvPr id="17" name="TextBox 4">
            <a:extLst>
              <a:ext uri="{FF2B5EF4-FFF2-40B4-BE49-F238E27FC236}">
                <a16:creationId xmlns:a16="http://schemas.microsoft.com/office/drawing/2014/main" id="{1C191650-A37A-C547-5069-FF02E8E654BE}"/>
              </a:ext>
            </a:extLst>
          </p:cNvPr>
          <p:cNvSpPr txBox="1"/>
          <p:nvPr/>
        </p:nvSpPr>
        <p:spPr>
          <a:xfrm>
            <a:off x="776858" y="4195285"/>
            <a:ext cx="6578524" cy="135421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13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300" i="1" dirty="0">
                <a:solidFill>
                  <a:srgbClr val="2C3E50"/>
                </a:solidFill>
                <a:latin typeface="Calibri"/>
              </a:rPr>
              <a:t>FECG amplitude</a:t>
            </a:r>
            <a:r>
              <a:rPr sz="1300" dirty="0">
                <a:solidFill>
                  <a:srgbClr val="2C3E50"/>
                </a:solidFill>
                <a:latin typeface="Calibri"/>
              </a:rPr>
              <a:t>: </a:t>
            </a:r>
            <a:r>
              <a:rPr sz="1300" i="1" dirty="0">
                <a:solidFill>
                  <a:srgbClr val="2C3E50"/>
                </a:solidFill>
                <a:latin typeface="Calibri"/>
              </a:rPr>
              <a:t>tiny</a:t>
            </a:r>
            <a:r>
              <a:rPr sz="1300" dirty="0">
                <a:solidFill>
                  <a:srgbClr val="2C3E50"/>
                </a:solidFill>
                <a:latin typeface="Calibri"/>
              </a:rPr>
              <a:t> (tens of µV)</a:t>
            </a:r>
          </a:p>
          <a:p>
            <a:pPr marL="274320" indent="-274320">
              <a:spcAft>
                <a:spcPts val="1200"/>
              </a:spcAft>
            </a:pPr>
            <a:r>
              <a:rPr sz="13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300" i="1" dirty="0">
                <a:solidFill>
                  <a:srgbClr val="2C3E50"/>
                </a:solidFill>
                <a:latin typeface="Calibri"/>
              </a:rPr>
              <a:t>Buried under</a:t>
            </a:r>
            <a:r>
              <a:rPr sz="1300" dirty="0">
                <a:solidFill>
                  <a:srgbClr val="2C3E50"/>
                </a:solidFill>
                <a:latin typeface="Calibri"/>
              </a:rPr>
              <a:t>: </a:t>
            </a:r>
            <a:r>
              <a:rPr sz="1300" i="1" u="sng" dirty="0">
                <a:solidFill>
                  <a:srgbClr val="2C3E50"/>
                </a:solidFill>
                <a:latin typeface="Calibri"/>
              </a:rPr>
              <a:t>baseline wander</a:t>
            </a:r>
            <a:r>
              <a:rPr sz="1300" dirty="0">
                <a:solidFill>
                  <a:srgbClr val="2C3E50"/>
                </a:solidFill>
                <a:latin typeface="Calibri"/>
              </a:rPr>
              <a:t>, </a:t>
            </a:r>
            <a:r>
              <a:rPr sz="1300" i="1" u="sng" dirty="0">
                <a:solidFill>
                  <a:srgbClr val="2C3E50"/>
                </a:solidFill>
                <a:latin typeface="Calibri"/>
              </a:rPr>
              <a:t>power‑line interference</a:t>
            </a:r>
            <a:r>
              <a:rPr sz="1300" dirty="0">
                <a:solidFill>
                  <a:srgbClr val="2C3E50"/>
                </a:solidFill>
                <a:latin typeface="Calibri"/>
              </a:rPr>
              <a:t>, </a:t>
            </a:r>
            <a:r>
              <a:rPr sz="1300" i="1" u="sng" dirty="0">
                <a:solidFill>
                  <a:srgbClr val="2C3E50"/>
                </a:solidFill>
                <a:latin typeface="Calibri"/>
              </a:rPr>
              <a:t>EMG/motion artifacts</a:t>
            </a:r>
          </a:p>
          <a:p>
            <a:pPr marL="274320" indent="-274320">
              <a:spcAft>
                <a:spcPts val="1200"/>
              </a:spcAft>
            </a:pPr>
            <a:r>
              <a:rPr sz="13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300" i="1" dirty="0">
                <a:solidFill>
                  <a:srgbClr val="2C3E50"/>
                </a:solidFill>
                <a:latin typeface="Calibri"/>
              </a:rPr>
              <a:t>Above all</a:t>
            </a:r>
            <a:r>
              <a:rPr sz="1300" dirty="0">
                <a:solidFill>
                  <a:srgbClr val="2C3E50"/>
                </a:solidFill>
                <a:latin typeface="Calibri"/>
              </a:rPr>
              <a:t>: the </a:t>
            </a:r>
            <a:r>
              <a:rPr sz="1300" b="1" dirty="0">
                <a:solidFill>
                  <a:srgbClr val="2C3E50"/>
                </a:solidFill>
                <a:latin typeface="Calibri"/>
              </a:rPr>
              <a:t>mother's ECG (MECG)</a:t>
            </a:r>
            <a:r>
              <a:rPr lang="it-IT" sz="1300" b="1" dirty="0">
                <a:solidFill>
                  <a:srgbClr val="2C3E50"/>
                </a:solidFill>
                <a:latin typeface="Calibri"/>
              </a:rPr>
              <a:t> </a:t>
            </a:r>
            <a:r>
              <a:rPr lang="it-IT" sz="1300" dirty="0" err="1">
                <a:solidFill>
                  <a:srgbClr val="2C3E50"/>
                </a:solidFill>
                <a:latin typeface="Calibri"/>
              </a:rPr>
              <a:t>is</a:t>
            </a:r>
            <a:r>
              <a:rPr lang="it-IT" sz="1300" b="1" dirty="0">
                <a:solidFill>
                  <a:srgbClr val="2C3E50"/>
                </a:solidFill>
                <a:latin typeface="Calibri"/>
              </a:rPr>
              <a:t> </a:t>
            </a:r>
            <a:r>
              <a:rPr sz="1300" dirty="0">
                <a:solidFill>
                  <a:srgbClr val="2C3E50"/>
                </a:solidFill>
                <a:latin typeface="Calibri"/>
              </a:rPr>
              <a:t>an order of magnitude </a:t>
            </a:r>
            <a:r>
              <a:rPr sz="1300" i="1" dirty="0">
                <a:solidFill>
                  <a:srgbClr val="2C3E50"/>
                </a:solidFill>
                <a:latin typeface="Calibri"/>
              </a:rPr>
              <a:t>larger</a:t>
            </a:r>
            <a:r>
              <a:rPr sz="1300" dirty="0">
                <a:solidFill>
                  <a:srgbClr val="2C3E50"/>
                </a:solidFill>
                <a:latin typeface="Calibri"/>
              </a:rPr>
              <a:t>, same electrodes</a:t>
            </a:r>
          </a:p>
          <a:p>
            <a:pPr marL="274320" indent="-274320">
              <a:spcAft>
                <a:spcPts val="1200"/>
              </a:spcAft>
            </a:pPr>
            <a:r>
              <a:rPr sz="13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300" i="1" dirty="0">
                <a:solidFill>
                  <a:srgbClr val="2C3E50"/>
                </a:solidFill>
                <a:latin typeface="Calibri"/>
              </a:rPr>
              <a:t>Goal</a:t>
            </a:r>
            <a:r>
              <a:rPr sz="1300" dirty="0">
                <a:solidFill>
                  <a:srgbClr val="2C3E50"/>
                </a:solidFill>
                <a:latin typeface="Calibri"/>
              </a:rPr>
              <a:t>: strip away everything that isn't the fetal heartbeat</a:t>
            </a:r>
          </a:p>
        </p:txBody>
      </p:sp>
      <p:sp>
        <p:nvSpPr>
          <p:cNvPr id="19" name="TextBox 2">
            <a:extLst>
              <a:ext uri="{FF2B5EF4-FFF2-40B4-BE49-F238E27FC236}">
                <a16:creationId xmlns:a16="http://schemas.microsoft.com/office/drawing/2014/main" id="{722056F6-3E1F-15D1-5CCA-9053748D20B9}"/>
              </a:ext>
            </a:extLst>
          </p:cNvPr>
          <p:cNvSpPr txBox="1"/>
          <p:nvPr/>
        </p:nvSpPr>
        <p:spPr>
          <a:xfrm>
            <a:off x="668957" y="1368767"/>
            <a:ext cx="1647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2C3E50"/>
                </a:solidFill>
                <a:latin typeface="Calibri"/>
              </a:rPr>
              <a:t>Clinical </a:t>
            </a:r>
            <a:r>
              <a:rPr lang="it-IT" b="1" dirty="0" err="1">
                <a:solidFill>
                  <a:srgbClr val="2C3E50"/>
                </a:solidFill>
                <a:latin typeface="Calibri"/>
              </a:rPr>
              <a:t>Context</a:t>
            </a:r>
            <a:endParaRPr b="1" dirty="0">
              <a:solidFill>
                <a:srgbClr val="2C3E50"/>
              </a:solidFill>
              <a:latin typeface="Calibri"/>
            </a:endParaRPr>
          </a:p>
        </p:txBody>
      </p:sp>
      <p:sp>
        <p:nvSpPr>
          <p:cNvPr id="21" name="TextBox 2">
            <a:extLst>
              <a:ext uri="{FF2B5EF4-FFF2-40B4-BE49-F238E27FC236}">
                <a16:creationId xmlns:a16="http://schemas.microsoft.com/office/drawing/2014/main" id="{88D26A35-4FCC-5442-A87E-E4003D71F976}"/>
              </a:ext>
            </a:extLst>
          </p:cNvPr>
          <p:cNvSpPr txBox="1"/>
          <p:nvPr/>
        </p:nvSpPr>
        <p:spPr>
          <a:xfrm>
            <a:off x="668957" y="3865272"/>
            <a:ext cx="11254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b="1" dirty="0">
                <a:solidFill>
                  <a:srgbClr val="2C3E50"/>
                </a:solidFill>
                <a:latin typeface="Calibri"/>
              </a:rPr>
              <a:t>Challenge</a:t>
            </a:r>
            <a:endParaRPr b="1" dirty="0">
              <a:solidFill>
                <a:srgbClr val="2C3E5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3E50"/>
                </a:solidFill>
                <a:latin typeface="Calibri"/>
              </a:rPr>
              <a:t>Two paradigms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005840" cy="3810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71809" y="2227210"/>
            <a:ext cx="4373216" cy="423505"/>
          </a:xfrm>
          <a:prstGeom prst="roundRect">
            <a:avLst>
              <a:gd name="adj" fmla="val 8000"/>
            </a:avLst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Blind (ICA / BSS)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53599" y="2227210"/>
            <a:ext cx="4366591" cy="423505"/>
          </a:xfrm>
          <a:prstGeom prst="roundRect">
            <a:avLst>
              <a:gd name="adj" fmla="val 8000"/>
            </a:avLst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Non‑blind (Sequential Analysis)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3363" y="2941883"/>
            <a:ext cx="40233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000"/>
              </a:spcAft>
            </a:pPr>
            <a:r>
              <a:rPr sz="1500" dirty="0">
                <a:solidFill>
                  <a:srgbClr val="2C3E50"/>
                </a:solidFill>
                <a:latin typeface="Calibri"/>
              </a:rPr>
              <a:t>▪  No prior knowledge assumed</a:t>
            </a:r>
          </a:p>
          <a:p>
            <a:pPr marL="201168" indent="-201168">
              <a:spcAft>
                <a:spcPts val="1000"/>
              </a:spcAft>
            </a:pPr>
            <a:r>
              <a:rPr sz="1500" dirty="0">
                <a:solidFill>
                  <a:srgbClr val="2C3E50"/>
                </a:solidFill>
                <a:latin typeface="Calibri"/>
              </a:rPr>
              <a:t>▪  Relies purely on statistical independence of sources</a:t>
            </a:r>
          </a:p>
          <a:p>
            <a:pPr marL="201168" indent="-201168">
              <a:spcAft>
                <a:spcPts val="1000"/>
              </a:spcAft>
            </a:pPr>
            <a:r>
              <a:rPr sz="1500" dirty="0">
                <a:solidFill>
                  <a:srgbClr val="2C3E50"/>
                </a:solidFill>
                <a:latin typeface="Calibri"/>
              </a:rPr>
              <a:t>▪  As many independent sources as channels required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76" y="2941883"/>
            <a:ext cx="4023360" cy="12721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1168" indent="-201168">
              <a:spcAft>
                <a:spcPts val="1000"/>
              </a:spcAft>
            </a:pPr>
            <a:r>
              <a:rPr sz="1500" dirty="0">
                <a:solidFill>
                  <a:srgbClr val="2C3E50"/>
                </a:solidFill>
                <a:latin typeface="Calibri"/>
              </a:rPr>
              <a:t>▪  Exploits a </a:t>
            </a:r>
            <a:r>
              <a:rPr sz="1500" i="1" dirty="0">
                <a:solidFill>
                  <a:srgbClr val="2C3E50"/>
                </a:solidFill>
                <a:latin typeface="Calibri"/>
              </a:rPr>
              <a:t>priori</a:t>
            </a:r>
            <a:r>
              <a:rPr sz="1500" dirty="0">
                <a:solidFill>
                  <a:srgbClr val="2C3E50"/>
                </a:solidFill>
                <a:latin typeface="Calibri"/>
              </a:rPr>
              <a:t> knowledge of each interferer</a:t>
            </a:r>
          </a:p>
          <a:p>
            <a:pPr marL="201168" indent="-201168">
              <a:spcAft>
                <a:spcPts val="1000"/>
              </a:spcAft>
            </a:pPr>
            <a:r>
              <a:rPr sz="1500" dirty="0">
                <a:solidFill>
                  <a:srgbClr val="2C3E50"/>
                </a:solidFill>
                <a:latin typeface="Calibri"/>
              </a:rPr>
              <a:t>▪  Uses periodicity, morphology, frequency content</a:t>
            </a:r>
          </a:p>
          <a:p>
            <a:pPr marL="201168" indent="-201168">
              <a:spcAft>
                <a:spcPts val="1000"/>
              </a:spcAft>
            </a:pPr>
            <a:r>
              <a:rPr sz="1500" dirty="0">
                <a:solidFill>
                  <a:srgbClr val="2C3E50"/>
                </a:solidFill>
                <a:latin typeface="Calibri"/>
              </a:rPr>
              <a:t>▪  </a:t>
            </a:r>
            <a:r>
              <a:rPr lang="it-IT" sz="1500" dirty="0">
                <a:solidFill>
                  <a:srgbClr val="2C3E50"/>
                </a:solidFill>
                <a:latin typeface="Calibri"/>
              </a:rPr>
              <a:t>T</a:t>
            </a:r>
            <a:r>
              <a:rPr sz="1500" dirty="0" err="1">
                <a:solidFill>
                  <a:srgbClr val="2C3E50"/>
                </a:solidFill>
                <a:latin typeface="Calibri"/>
              </a:rPr>
              <a:t>hesis</a:t>
            </a:r>
            <a:r>
              <a:rPr sz="1500" dirty="0">
                <a:solidFill>
                  <a:srgbClr val="2C3E50"/>
                </a:solidFill>
                <a:latin typeface="Calibri"/>
              </a:rPr>
              <a:t>: more robust, especially at low </a:t>
            </a:r>
            <a:r>
              <a:rPr sz="1500" b="1" dirty="0">
                <a:solidFill>
                  <a:srgbClr val="2C3E50"/>
                </a:solidFill>
                <a:latin typeface="Calibri"/>
              </a:rPr>
              <a:t>SNR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763" y="2164643"/>
            <a:ext cx="4480560" cy="274320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086370" y="2164643"/>
            <a:ext cx="4480561" cy="2743200"/>
          </a:xfrm>
          <a:prstGeom prst="roundRect">
            <a:avLst>
              <a:gd name="adj" fmla="val 4000"/>
            </a:avLst>
          </a:prstGeom>
          <a:noFill/>
          <a:ln w="1905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730087" y="3303634"/>
            <a:ext cx="731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 i="1" dirty="0">
                <a:solidFill>
                  <a:srgbClr val="5A6B78"/>
                </a:solidFill>
                <a:latin typeface="Calibri"/>
              </a:rPr>
              <a:t>vs.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 dirty="0">
                <a:solidFill>
                  <a:srgbClr val="5A6B78"/>
                </a:solidFill>
                <a:latin typeface="Calibri"/>
              </a:rPr>
              <a:t>Robust Fetal ECG Detection -- Sequential Analysis vs. 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46400" y="6446520"/>
            <a:ext cx="242375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it-IT" sz="900" dirty="0">
                <a:solidFill>
                  <a:srgbClr val="5A6B78"/>
                </a:solidFill>
                <a:latin typeface="Calibri"/>
              </a:rPr>
              <a:t>3</a:t>
            </a:r>
            <a:endParaRPr sz="900" dirty="0">
              <a:solidFill>
                <a:srgbClr val="5A6B7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8" name="Connector 17"/>
          <p:cNvCxnSpPr>
            <a:cxnSpLocks/>
            <a:endCxn id="17" idx="3"/>
          </p:cNvCxnSpPr>
          <p:nvPr/>
        </p:nvCxnSpPr>
        <p:spPr>
          <a:xfrm>
            <a:off x="502920" y="3108960"/>
            <a:ext cx="11345875" cy="0"/>
          </a:xfrm>
          <a:prstGeom prst="line">
            <a:avLst/>
          </a:prstGeom>
          <a:ln w="19050">
            <a:solidFill>
              <a:srgbClr val="DDE1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3E50"/>
                </a:solidFill>
                <a:latin typeface="Calibri"/>
              </a:rPr>
              <a:t>Pipeline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005840" cy="3810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02920" y="2880360"/>
            <a:ext cx="594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C3E50"/>
                </a:solidFill>
                <a:latin typeface="Calibri"/>
              </a:rPr>
              <a:t>S1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3429" y="2788920"/>
            <a:ext cx="1691640" cy="640080"/>
          </a:xfrm>
          <a:prstGeom prst="roundRect">
            <a:avLst>
              <a:gd name="adj" fmla="val 8000"/>
            </a:avLst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Baseline Wander
Remover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21219" y="2880360"/>
            <a:ext cx="594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C3E50"/>
                </a:solidFill>
                <a:latin typeface="Calibri"/>
              </a:rPr>
              <a:t>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31728" y="2788920"/>
            <a:ext cx="1691640" cy="640080"/>
          </a:xfrm>
          <a:prstGeom prst="roundRect">
            <a:avLst>
              <a:gd name="adj" fmla="val 8000"/>
            </a:avLst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PLI
Canceller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39518" y="2880360"/>
            <a:ext cx="594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C3E50"/>
                </a:solidFill>
                <a:latin typeface="Calibri"/>
              </a:rPr>
              <a:t>S3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0027" y="2788920"/>
            <a:ext cx="1691640" cy="640080"/>
          </a:xfrm>
          <a:prstGeom prst="roundRect">
            <a:avLst>
              <a:gd name="adj" fmla="val 8000"/>
            </a:avLst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Sampling‑Rate
Increaser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7817" y="2880360"/>
            <a:ext cx="594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C3E50"/>
                </a:solidFill>
                <a:latin typeface="Calibri"/>
              </a:rPr>
              <a:t>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94006" y="2404872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5A6B78"/>
                </a:solidFill>
                <a:latin typeface="Calibri"/>
              </a:rPr>
              <a:t>[Maternal QRS Detector]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68326" y="2788920"/>
            <a:ext cx="1691640" cy="640080"/>
          </a:xfrm>
          <a:prstGeom prst="roundRect">
            <a:avLst>
              <a:gd name="adj" fmla="val 8000"/>
            </a:avLst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MECG
Canceller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76116" y="2880360"/>
            <a:ext cx="594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2C3E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2C3E50"/>
                </a:solidFill>
                <a:latin typeface="Calibri"/>
              </a:rPr>
              <a:t>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12305" y="2404872"/>
            <a:ext cx="2240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i="1">
                <a:solidFill>
                  <a:srgbClr val="5A6B78"/>
                </a:solidFill>
                <a:latin typeface="Calibri"/>
              </a:rPr>
              <a:t>[Fetal QRS Detector]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86625" y="2788920"/>
            <a:ext cx="1691640" cy="640080"/>
          </a:xfrm>
          <a:prstGeom prst="roundRect">
            <a:avLst>
              <a:gd name="adj" fmla="val 8000"/>
            </a:avLst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FECG
Extractor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934395" y="2880360"/>
            <a:ext cx="9144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E74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E74C3C"/>
                </a:solidFill>
                <a:latin typeface="Calibri"/>
              </a:rPr>
              <a:t>S6
+FHR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977639"/>
            <a:ext cx="111858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dirty="0">
                <a:solidFill>
                  <a:srgbClr val="2C3E50"/>
                </a:solidFill>
                <a:latin typeface="Calibri"/>
              </a:rPr>
              <a:t>Note: </a:t>
            </a:r>
            <a:r>
              <a:rPr lang="it-IT" sz="1600" dirty="0" err="1">
                <a:solidFill>
                  <a:srgbClr val="2C3E50"/>
                </a:solidFill>
                <a:latin typeface="Calibri"/>
              </a:rPr>
              <a:t>signals</a:t>
            </a:r>
            <a:r>
              <a:rPr lang="it-IT" sz="1600" dirty="0">
                <a:solidFill>
                  <a:srgbClr val="2C3E50"/>
                </a:solidFill>
                <a:latin typeface="Calibri"/>
              </a:rPr>
              <a:t> </a:t>
            </a:r>
            <a:r>
              <a:rPr lang="it-IT" sz="1600" dirty="0" err="1">
                <a:solidFill>
                  <a:srgbClr val="2C3E50"/>
                </a:solidFill>
                <a:latin typeface="Calibri"/>
              </a:rPr>
              <a:t>were</a:t>
            </a:r>
            <a:r>
              <a:rPr lang="it-IT" sz="1600" dirty="0">
                <a:solidFill>
                  <a:srgbClr val="2C3E50"/>
                </a:solidFill>
                <a:latin typeface="Calibri"/>
              </a:rPr>
              <a:t> </a:t>
            </a:r>
            <a:r>
              <a:rPr lang="it-IT" sz="1600" dirty="0" err="1">
                <a:solidFill>
                  <a:srgbClr val="2C3E50"/>
                </a:solidFill>
                <a:latin typeface="Calibri"/>
              </a:rPr>
              <a:t>originally</a:t>
            </a:r>
            <a:r>
              <a:rPr lang="it-IT" sz="1600" dirty="0">
                <a:solidFill>
                  <a:srgbClr val="2C3E50"/>
                </a:solidFill>
                <a:latin typeface="Calibri"/>
              </a:rPr>
              <a:t> </a:t>
            </a:r>
            <a:r>
              <a:rPr lang="it-IT" sz="1600" dirty="0" err="1">
                <a:solidFill>
                  <a:srgbClr val="2C3E50"/>
                </a:solidFill>
                <a:latin typeface="Calibri"/>
              </a:rPr>
              <a:t>sampled</a:t>
            </a:r>
            <a:r>
              <a:rPr lang="it-IT" sz="1600" dirty="0">
                <a:solidFill>
                  <a:srgbClr val="2C3E50"/>
                </a:solidFill>
                <a:latin typeface="Calibri"/>
              </a:rPr>
              <a:t> </a:t>
            </a:r>
            <a:r>
              <a:rPr lang="it-IT" sz="1600" dirty="0" err="1">
                <a:solidFill>
                  <a:srgbClr val="2C3E50"/>
                </a:solidFill>
                <a:latin typeface="Calibri"/>
              </a:rPr>
              <a:t>at</a:t>
            </a:r>
            <a:r>
              <a:rPr lang="it-IT" sz="1600" dirty="0">
                <a:solidFill>
                  <a:srgbClr val="2C3E50"/>
                </a:solidFill>
                <a:latin typeface="Calibri"/>
              </a:rPr>
              <a:t> </a:t>
            </a:r>
            <a:r>
              <a:rPr sz="1600" b="1" dirty="0">
                <a:solidFill>
                  <a:srgbClr val="2C3E50"/>
                </a:solidFill>
                <a:latin typeface="Calibri"/>
              </a:rPr>
              <a:t>1000 Hz</a:t>
            </a:r>
            <a:r>
              <a:rPr sz="1600" dirty="0">
                <a:solidFill>
                  <a:srgbClr val="2C3E50"/>
                </a:solidFill>
                <a:latin typeface="Calibri"/>
              </a:rPr>
              <a:t> → </a:t>
            </a:r>
            <a:r>
              <a:rPr sz="1600" dirty="0" err="1">
                <a:solidFill>
                  <a:srgbClr val="2C3E50"/>
                </a:solidFill>
                <a:latin typeface="Calibri"/>
              </a:rPr>
              <a:t>upsampled</a:t>
            </a:r>
            <a:r>
              <a:rPr sz="1600" dirty="0">
                <a:solidFill>
                  <a:srgbClr val="2C3E50"/>
                </a:solidFill>
                <a:latin typeface="Calibri"/>
              </a:rPr>
              <a:t> to </a:t>
            </a:r>
            <a:r>
              <a:rPr sz="1600" b="1" dirty="0">
                <a:solidFill>
                  <a:srgbClr val="2C3E50"/>
                </a:solidFill>
                <a:latin typeface="Calibri"/>
              </a:rPr>
              <a:t>2000 Hz</a:t>
            </a:r>
            <a:r>
              <a:rPr sz="1600" dirty="0">
                <a:solidFill>
                  <a:srgbClr val="2C3E50"/>
                </a:solidFill>
                <a:latin typeface="Calibri"/>
              </a:rPr>
              <a:t> for MECG cancellation precision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A6B78"/>
                </a:solidFill>
                <a:latin typeface="Calibri"/>
              </a:rPr>
              <a:t>Robust Fetal ECG Detection -- Sequential Analysis vs. 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46400" y="6446520"/>
            <a:ext cx="242375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it-IT" sz="900" dirty="0">
                <a:solidFill>
                  <a:srgbClr val="5A6B78"/>
                </a:solidFill>
                <a:latin typeface="Calibri"/>
              </a:rPr>
              <a:t>4</a:t>
            </a:r>
            <a:endParaRPr sz="900" dirty="0">
              <a:solidFill>
                <a:srgbClr val="5A6B7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E3F62-D5E4-AB1F-3433-A28FDE11E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8A7F7C2-06BF-A174-5216-DB8EC7288B68}"/>
              </a:ext>
            </a:extLst>
          </p:cNvPr>
          <p:cNvSpPr/>
          <p:nvPr/>
        </p:nvSpPr>
        <p:spPr>
          <a:xfrm>
            <a:off x="23718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070B8F-B453-4719-8423-BC147A4F7E4B}"/>
              </a:ext>
            </a:extLst>
          </p:cNvPr>
          <p:cNvSpPr txBox="1"/>
          <p:nvPr/>
        </p:nvSpPr>
        <p:spPr>
          <a:xfrm>
            <a:off x="502920" y="320040"/>
            <a:ext cx="11185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2800" b="1" dirty="0">
                <a:solidFill>
                  <a:srgbClr val="2C3E50"/>
                </a:solidFill>
                <a:latin typeface="Calibri"/>
              </a:rPr>
              <a:t>Dataset</a:t>
            </a:r>
            <a:endParaRPr sz="2800" b="1" dirty="0">
              <a:solidFill>
                <a:srgbClr val="2C3E50"/>
              </a:solidFill>
              <a:latin typeface="Calibri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AEA774-74F7-8114-546F-8FC58ACF0B52}"/>
              </a:ext>
            </a:extLst>
          </p:cNvPr>
          <p:cNvSpPr/>
          <p:nvPr/>
        </p:nvSpPr>
        <p:spPr>
          <a:xfrm>
            <a:off x="502920" y="987552"/>
            <a:ext cx="1005840" cy="3810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A30271-7BE2-9572-5C45-684147ED2600}"/>
              </a:ext>
            </a:extLst>
          </p:cNvPr>
          <p:cNvSpPr txBox="1"/>
          <p:nvPr/>
        </p:nvSpPr>
        <p:spPr>
          <a:xfrm>
            <a:off x="502920" y="644652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A6B78"/>
                </a:solidFill>
                <a:latin typeface="Calibri"/>
              </a:rPr>
              <a:t>Robust Fetal ECG Detection -- Sequential Analysis vs. ICA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92E09CC-2A85-8299-40A8-F170B99297A9}"/>
              </a:ext>
            </a:extLst>
          </p:cNvPr>
          <p:cNvSpPr txBox="1"/>
          <p:nvPr/>
        </p:nvSpPr>
        <p:spPr>
          <a:xfrm>
            <a:off x="11446400" y="6446520"/>
            <a:ext cx="242375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it-IT" sz="900" dirty="0">
                <a:solidFill>
                  <a:srgbClr val="5A6B78"/>
                </a:solidFill>
                <a:latin typeface="Calibri"/>
              </a:rPr>
              <a:t>5</a:t>
            </a:r>
            <a:endParaRPr sz="900" dirty="0">
              <a:solidFill>
                <a:srgbClr val="5A6B78"/>
              </a:solidFill>
              <a:latin typeface="Calibri"/>
            </a:endParaRPr>
          </a:p>
        </p:txBody>
      </p:sp>
      <p:sp>
        <p:nvSpPr>
          <p:cNvPr id="24" name="Rectangle 5">
            <a:extLst>
              <a:ext uri="{FF2B5EF4-FFF2-40B4-BE49-F238E27FC236}">
                <a16:creationId xmlns:a16="http://schemas.microsoft.com/office/drawing/2014/main" id="{B4F211BD-411D-6F2C-D7B6-B76B68CAF436}"/>
              </a:ext>
            </a:extLst>
          </p:cNvPr>
          <p:cNvSpPr/>
          <p:nvPr/>
        </p:nvSpPr>
        <p:spPr>
          <a:xfrm>
            <a:off x="5892991" y="2133975"/>
            <a:ext cx="5795784" cy="3021831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Immagine 21" descr="Figure 1">
            <a:extLst>
              <a:ext uri="{FF2B5EF4-FFF2-40B4-BE49-F238E27FC236}">
                <a16:creationId xmlns:a16="http://schemas.microsoft.com/office/drawing/2014/main" id="{FED7D288-8D8D-D437-9A94-2E69D3D2F5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2218" y="2191222"/>
            <a:ext cx="5717330" cy="2907336"/>
          </a:xfrm>
          <a:prstGeom prst="rect">
            <a:avLst/>
          </a:prstGeom>
        </p:spPr>
      </p:pic>
      <p:sp>
        <p:nvSpPr>
          <p:cNvPr id="26" name="TextBox 4">
            <a:extLst>
              <a:ext uri="{FF2B5EF4-FFF2-40B4-BE49-F238E27FC236}">
                <a16:creationId xmlns:a16="http://schemas.microsoft.com/office/drawing/2014/main" id="{AC2241CF-2391-494C-7C93-CE3F9F03BA63}"/>
              </a:ext>
            </a:extLst>
          </p:cNvPr>
          <p:cNvSpPr txBox="1"/>
          <p:nvPr/>
        </p:nvSpPr>
        <p:spPr>
          <a:xfrm>
            <a:off x="502920" y="2452256"/>
            <a:ext cx="4250624" cy="23852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lang="it-IT" sz="1700" i="1" dirty="0" err="1">
                <a:solidFill>
                  <a:srgbClr val="2C3E50"/>
                </a:solidFill>
                <a:latin typeface="Calibri"/>
              </a:rPr>
              <a:t>Sourced</a:t>
            </a:r>
            <a:r>
              <a:rPr lang="it-IT" sz="1700" i="1" dirty="0">
                <a:solidFill>
                  <a:srgbClr val="2C3E50"/>
                </a:solidFill>
                <a:latin typeface="Calibri"/>
              </a:rPr>
              <a:t> from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: </a:t>
            </a:r>
            <a:r>
              <a:rPr lang="it-IT" sz="1700" b="1" dirty="0">
                <a:solidFill>
                  <a:srgbClr val="2C3E50"/>
                </a:solidFill>
                <a:latin typeface="Calibri"/>
              </a:rPr>
              <a:t>The 2013 </a:t>
            </a:r>
            <a:r>
              <a:rPr lang="it-IT" sz="1700" b="1" dirty="0" err="1">
                <a:solidFill>
                  <a:srgbClr val="2C3E50"/>
                </a:solidFill>
                <a:latin typeface="Calibri"/>
              </a:rPr>
              <a:t>PhysioNet</a:t>
            </a:r>
            <a:r>
              <a:rPr lang="it-IT" sz="1700" b="1" dirty="0">
                <a:solidFill>
                  <a:srgbClr val="2C3E50"/>
                </a:solidFill>
                <a:latin typeface="Calibri"/>
              </a:rPr>
              <a:t>/</a:t>
            </a:r>
            <a:r>
              <a:rPr lang="it-IT" sz="1700" b="1" dirty="0" err="1">
                <a:solidFill>
                  <a:srgbClr val="2C3E50"/>
                </a:solidFill>
                <a:latin typeface="Calibri"/>
              </a:rPr>
              <a:t>CinC</a:t>
            </a:r>
            <a:r>
              <a:rPr lang="it-IT" sz="1700" b="1" dirty="0">
                <a:solidFill>
                  <a:srgbClr val="2C3E50"/>
                </a:solidFill>
                <a:latin typeface="Calibri"/>
              </a:rPr>
              <a:t> Challenge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  </a:t>
            </a:r>
            <a:endParaRPr sz="1700" b="1" dirty="0">
              <a:solidFill>
                <a:srgbClr val="2C3E50"/>
              </a:solidFill>
              <a:latin typeface="Calibri"/>
            </a:endParaRPr>
          </a:p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lang="it-IT" sz="1700" i="1" dirty="0">
                <a:solidFill>
                  <a:srgbClr val="2C3E50"/>
                </a:solidFill>
                <a:latin typeface="Calibri"/>
              </a:rPr>
              <a:t>Data </a:t>
            </a:r>
            <a:r>
              <a:rPr lang="it-IT" sz="1700" i="1" dirty="0" err="1">
                <a:solidFill>
                  <a:srgbClr val="2C3E50"/>
                </a:solidFill>
                <a:latin typeface="Calibri"/>
              </a:rPr>
              <a:t>structure</a:t>
            </a:r>
            <a:r>
              <a:rPr sz="1700" dirty="0">
                <a:solidFill>
                  <a:srgbClr val="2C3E50"/>
                </a:solidFill>
                <a:latin typeface="Calibri"/>
              </a:rPr>
              <a:t>: 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1 minute recordings</a:t>
            </a:r>
            <a:r>
              <a:rPr lang="it-IT" sz="1700" dirty="0">
                <a:solidFill>
                  <a:srgbClr val="2C3E50"/>
                </a:solidFill>
              </a:rPr>
              <a:t>, 4 non-invasive </a:t>
            </a:r>
            <a:r>
              <a:rPr lang="it-IT" sz="1700" dirty="0" err="1">
                <a:solidFill>
                  <a:srgbClr val="2C3E50"/>
                </a:solidFill>
              </a:rPr>
              <a:t>addominal</a:t>
            </a:r>
            <a:r>
              <a:rPr lang="it-IT" sz="1700" dirty="0">
                <a:solidFill>
                  <a:srgbClr val="2C3E50"/>
                </a:solidFill>
              </a:rPr>
              <a:t> </a:t>
            </a:r>
            <a:r>
              <a:rPr lang="it-IT" sz="1700" dirty="0" err="1">
                <a:solidFill>
                  <a:srgbClr val="2C3E50"/>
                </a:solidFill>
              </a:rPr>
              <a:t>channels</a:t>
            </a:r>
            <a:endParaRPr sz="1700" dirty="0">
              <a:solidFill>
                <a:srgbClr val="2C3E50"/>
              </a:solidFill>
              <a:latin typeface="Calibri"/>
            </a:endParaRPr>
          </a:p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lang="it-IT" sz="1700" i="1" dirty="0">
                <a:solidFill>
                  <a:srgbClr val="2C3E50"/>
                </a:solidFill>
              </a:rPr>
              <a:t>Sampling frequency</a:t>
            </a:r>
            <a:r>
              <a:rPr lang="it-IT" sz="1700" dirty="0">
                <a:solidFill>
                  <a:srgbClr val="2C3E50"/>
                </a:solidFill>
              </a:rPr>
              <a:t>: 1000 Hz</a:t>
            </a:r>
          </a:p>
          <a:p>
            <a:pPr marL="274320" indent="-274320">
              <a:spcAft>
                <a:spcPts val="1200"/>
              </a:spcAft>
            </a:pPr>
            <a:r>
              <a:rPr lang="it-IT" sz="1700" dirty="0">
                <a:solidFill>
                  <a:srgbClr val="16A085"/>
                </a:solidFill>
              </a:rPr>
              <a:t>▪  </a:t>
            </a:r>
            <a:r>
              <a:rPr lang="it-IT" sz="1700" i="1" dirty="0">
                <a:solidFill>
                  <a:srgbClr val="2C3E50"/>
                </a:solidFill>
              </a:rPr>
              <a:t>GT </a:t>
            </a:r>
            <a:r>
              <a:rPr lang="it-IT" sz="1700" i="1" dirty="0" err="1">
                <a:solidFill>
                  <a:srgbClr val="2C3E50"/>
                </a:solidFill>
              </a:rPr>
              <a:t>annotations</a:t>
            </a:r>
            <a:r>
              <a:rPr lang="it-IT" sz="1700" dirty="0">
                <a:solidFill>
                  <a:srgbClr val="2C3E50"/>
                </a:solidFill>
              </a:rPr>
              <a:t>: </a:t>
            </a:r>
            <a:r>
              <a:rPr lang="it-IT" sz="1700" dirty="0" err="1">
                <a:solidFill>
                  <a:srgbClr val="2C3E50"/>
                </a:solidFill>
              </a:rPr>
              <a:t>spatial</a:t>
            </a:r>
            <a:r>
              <a:rPr lang="it-IT" sz="1700" dirty="0">
                <a:solidFill>
                  <a:srgbClr val="2C3E50"/>
                </a:solidFill>
              </a:rPr>
              <a:t> locations of </a:t>
            </a:r>
            <a:r>
              <a:rPr lang="it-IT" sz="1700" dirty="0" err="1">
                <a:solidFill>
                  <a:srgbClr val="2C3E50"/>
                </a:solidFill>
              </a:rPr>
              <a:t>each</a:t>
            </a:r>
            <a:r>
              <a:rPr lang="it-IT" sz="1700" dirty="0">
                <a:solidFill>
                  <a:srgbClr val="2C3E50"/>
                </a:solidFill>
              </a:rPr>
              <a:t> </a:t>
            </a:r>
            <a:r>
              <a:rPr lang="it-IT" sz="1700" dirty="0" err="1">
                <a:solidFill>
                  <a:srgbClr val="2C3E50"/>
                </a:solidFill>
              </a:rPr>
              <a:t>fetal</a:t>
            </a:r>
            <a:r>
              <a:rPr lang="it-IT" sz="1700" dirty="0">
                <a:solidFill>
                  <a:srgbClr val="2C3E50"/>
                </a:solidFill>
              </a:rPr>
              <a:t> QRS </a:t>
            </a:r>
            <a:r>
              <a:rPr lang="it-IT" sz="1700" dirty="0" err="1">
                <a:solidFill>
                  <a:srgbClr val="2C3E50"/>
                </a:solidFill>
              </a:rPr>
              <a:t>complex</a:t>
            </a:r>
            <a:r>
              <a:rPr lang="it-IT" sz="1700" dirty="0">
                <a:solidFill>
                  <a:srgbClr val="2C3E50"/>
                </a:solidFill>
              </a:rPr>
              <a:t> are </a:t>
            </a:r>
            <a:r>
              <a:rPr lang="it-IT" sz="1700" dirty="0" err="1">
                <a:solidFill>
                  <a:srgbClr val="2C3E50"/>
                </a:solidFill>
              </a:rPr>
              <a:t>included</a:t>
            </a:r>
            <a:endParaRPr lang="it-IT" sz="1700" dirty="0">
              <a:solidFill>
                <a:srgbClr val="2C3E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885219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2C3E50"/>
                </a:solidFill>
                <a:latin typeface="Calibri"/>
              </a:rPr>
              <a:t>Stage 1–2: </a:t>
            </a:r>
            <a:r>
              <a:rPr lang="it-IT" sz="2800" b="1" dirty="0">
                <a:solidFill>
                  <a:srgbClr val="2C3E50"/>
                </a:solidFill>
                <a:latin typeface="Calibri"/>
              </a:rPr>
              <a:t>BW </a:t>
            </a:r>
            <a:r>
              <a:rPr lang="it-IT" sz="2800" b="1" dirty="0" err="1">
                <a:solidFill>
                  <a:srgbClr val="2C3E50"/>
                </a:solidFill>
                <a:latin typeface="Calibri"/>
              </a:rPr>
              <a:t>removal</a:t>
            </a:r>
            <a:r>
              <a:rPr lang="it-IT" sz="2800" b="1" dirty="0">
                <a:solidFill>
                  <a:srgbClr val="2C3E50"/>
                </a:solidFill>
                <a:latin typeface="Calibri"/>
              </a:rPr>
              <a:t> </a:t>
            </a:r>
            <a:r>
              <a:rPr sz="2800" b="1" dirty="0">
                <a:solidFill>
                  <a:srgbClr val="2C3E50"/>
                </a:solidFill>
                <a:latin typeface="Calibri"/>
              </a:rPr>
              <a:t>+ </a:t>
            </a:r>
            <a:r>
              <a:rPr lang="it-IT" sz="2800" b="1" dirty="0">
                <a:solidFill>
                  <a:srgbClr val="2C3E50"/>
                </a:solidFill>
                <a:latin typeface="Calibri"/>
              </a:rPr>
              <a:t>PLI </a:t>
            </a:r>
            <a:r>
              <a:rPr lang="it-IT" sz="2800" b="1" dirty="0" err="1">
                <a:solidFill>
                  <a:srgbClr val="2C3E50"/>
                </a:solidFill>
                <a:latin typeface="Calibri"/>
              </a:rPr>
              <a:t>canceller</a:t>
            </a:r>
            <a:endParaRPr sz="2800" b="1" dirty="0">
              <a:solidFill>
                <a:srgbClr val="2C3E50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005840" cy="3810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489591"/>
            <a:ext cx="4250624" cy="249299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700" i="1" dirty="0">
                <a:solidFill>
                  <a:srgbClr val="2C3E50"/>
                </a:solidFill>
                <a:latin typeface="Calibri"/>
              </a:rPr>
              <a:t>Baseline wander</a:t>
            </a:r>
            <a:r>
              <a:rPr lang="it-IT" sz="1700" i="1" dirty="0">
                <a:solidFill>
                  <a:srgbClr val="2C3E50"/>
                </a:solidFill>
                <a:latin typeface="Calibri"/>
              </a:rPr>
              <a:t> </a:t>
            </a:r>
            <a:r>
              <a:rPr lang="it-IT" sz="1700" i="1" dirty="0" err="1">
                <a:solidFill>
                  <a:srgbClr val="2C3E50"/>
                </a:solidFill>
                <a:latin typeface="Calibri"/>
              </a:rPr>
              <a:t>removal</a:t>
            </a:r>
            <a:r>
              <a:rPr sz="1700" dirty="0">
                <a:solidFill>
                  <a:srgbClr val="2C3E50"/>
                </a:solidFill>
                <a:latin typeface="Calibri"/>
              </a:rPr>
              <a:t>: linear‑phase FIR high‑pass, 3 Hz cutoff, Hamming window</a:t>
            </a:r>
            <a:endParaRPr sz="1700" b="1" dirty="0">
              <a:solidFill>
                <a:srgbClr val="2C3E50"/>
              </a:solidFill>
              <a:latin typeface="Calibri"/>
            </a:endParaRPr>
          </a:p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700" i="1" dirty="0">
                <a:solidFill>
                  <a:srgbClr val="2C3E50"/>
                </a:solidFill>
                <a:latin typeface="Calibri"/>
              </a:rPr>
              <a:t>Power‑line interference</a:t>
            </a:r>
            <a:r>
              <a:rPr lang="it-IT" sz="1700" i="1" dirty="0">
                <a:solidFill>
                  <a:srgbClr val="2C3E50"/>
                </a:solidFill>
                <a:latin typeface="Calibri"/>
              </a:rPr>
              <a:t> </a:t>
            </a:r>
            <a:r>
              <a:rPr lang="it-IT" sz="1700" i="1" dirty="0" err="1">
                <a:solidFill>
                  <a:srgbClr val="2C3E50"/>
                </a:solidFill>
                <a:latin typeface="Calibri"/>
              </a:rPr>
              <a:t>canceller</a:t>
            </a:r>
            <a:r>
              <a:rPr sz="1700" dirty="0">
                <a:solidFill>
                  <a:srgbClr val="2C3E50"/>
                </a:solidFill>
                <a:latin typeface="Calibri"/>
              </a:rPr>
              <a:t>: adaptive PLL‑style canceller with a QRS‑blocking mask</a:t>
            </a:r>
          </a:p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700" i="1" dirty="0">
                <a:solidFill>
                  <a:srgbClr val="2C3E50"/>
                </a:solidFill>
                <a:latin typeface="Calibri"/>
              </a:rPr>
              <a:t>Result</a:t>
            </a:r>
            <a:r>
              <a:rPr lang="it-IT" sz="1700" i="1" dirty="0">
                <a:solidFill>
                  <a:srgbClr val="2C3E50"/>
                </a:solidFill>
                <a:latin typeface="Calibri"/>
              </a:rPr>
              <a:t>s</a:t>
            </a:r>
            <a:r>
              <a:rPr sz="1700" dirty="0">
                <a:solidFill>
                  <a:srgbClr val="2C3E50"/>
                </a:solidFill>
                <a:latin typeface="Calibri"/>
              </a:rPr>
              <a:t>: 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baseline </a:t>
            </a:r>
            <a:r>
              <a:rPr lang="it-IT" sz="1700" dirty="0" err="1">
                <a:solidFill>
                  <a:srgbClr val="2C3E50"/>
                </a:solidFill>
                <a:latin typeface="Calibri"/>
              </a:rPr>
              <a:t>flattened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 and </a:t>
            </a:r>
            <a:r>
              <a:rPr lang="it-IT" sz="1700" dirty="0" err="1">
                <a:solidFill>
                  <a:srgbClr val="2C3E50"/>
                </a:solidFill>
                <a:latin typeface="Calibri"/>
              </a:rPr>
              <a:t>stabilized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. </a:t>
            </a:r>
            <a:r>
              <a:rPr lang="it-IT" sz="1700" dirty="0" err="1">
                <a:solidFill>
                  <a:srgbClr val="2C3E50"/>
                </a:solidFill>
                <a:latin typeface="Calibri"/>
              </a:rPr>
              <a:t>Removal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 of the 50 Hz</a:t>
            </a:r>
            <a:r>
              <a:rPr sz="1700" dirty="0">
                <a:solidFill>
                  <a:srgbClr val="2C3E50"/>
                </a:solidFill>
                <a:latin typeface="Calibri"/>
              </a:rPr>
              <a:t> </a:t>
            </a:r>
            <a:r>
              <a:rPr lang="it-IT" sz="1700" dirty="0" err="1">
                <a:solidFill>
                  <a:srgbClr val="2C3E50"/>
                </a:solidFill>
                <a:latin typeface="Calibri"/>
              </a:rPr>
              <a:t>interference</a:t>
            </a:r>
            <a:r>
              <a:rPr sz="1700" dirty="0">
                <a:solidFill>
                  <a:srgbClr val="2C3E50"/>
                </a:solidFill>
                <a:latin typeface="Calibri"/>
              </a:rPr>
              <a:t> 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and </a:t>
            </a:r>
            <a:r>
              <a:rPr lang="it-IT" sz="1700" dirty="0" err="1">
                <a:solidFill>
                  <a:srgbClr val="2C3E50"/>
                </a:solidFill>
                <a:latin typeface="Calibri"/>
              </a:rPr>
              <a:t>its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 </a:t>
            </a:r>
            <a:r>
              <a:rPr lang="it-IT" sz="1700" dirty="0" err="1">
                <a:solidFill>
                  <a:srgbClr val="2C3E50"/>
                </a:solidFill>
                <a:latin typeface="Calibri"/>
              </a:rPr>
              <a:t>harmonics</a:t>
            </a:r>
            <a:r>
              <a:rPr lang="it-IT" sz="1700" i="1" dirty="0">
                <a:solidFill>
                  <a:srgbClr val="2C3E50"/>
                </a:solidFill>
                <a:latin typeface="Calibri"/>
              </a:rPr>
              <a:t> 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up to 200 Hz.</a:t>
            </a:r>
            <a:endParaRPr sz="1700" dirty="0">
              <a:solidFill>
                <a:srgbClr val="2C3E5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847816" y="2878993"/>
            <a:ext cx="5576612" cy="327262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baseline_wander_removal_power_line_interference_cancellation_s1_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679" y="2947796"/>
            <a:ext cx="5477683" cy="31489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02679" y="6151509"/>
            <a:ext cx="543127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 dirty="0">
                <a:solidFill>
                  <a:srgbClr val="5A6B78"/>
                </a:solidFill>
                <a:latin typeface="Calibri"/>
              </a:rPr>
              <a:t>Figure 1. baseline wander + power-line interference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6665490" y="1148994"/>
            <a:ext cx="3905656" cy="143885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baseline_wander_remover_fir_filter_st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4777" y="1190315"/>
            <a:ext cx="3782690" cy="135141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4652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A6B78"/>
                </a:solidFill>
                <a:latin typeface="Calibri"/>
              </a:rPr>
              <a:t>Robust Fetal ECG Detection -- Sequential Analysis vs. 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40135" y="6429766"/>
            <a:ext cx="57247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it-IT" sz="900" dirty="0">
                <a:solidFill>
                  <a:srgbClr val="5A6B78"/>
                </a:solidFill>
                <a:latin typeface="Calibri"/>
              </a:rPr>
              <a:t>6</a:t>
            </a:r>
            <a:endParaRPr sz="900" dirty="0">
              <a:solidFill>
                <a:srgbClr val="5A6B7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2C3E50"/>
                </a:solidFill>
                <a:latin typeface="Calibri"/>
              </a:rPr>
              <a:t>Stage 3–4: maternal QRS detection &amp; MECG cancellation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005840" cy="3810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408316"/>
            <a:ext cx="4250624" cy="2754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700" i="1" dirty="0">
                <a:solidFill>
                  <a:srgbClr val="2C3E50"/>
                </a:solidFill>
                <a:latin typeface="Calibri"/>
              </a:rPr>
              <a:t>Maternal QRS detection</a:t>
            </a:r>
            <a:r>
              <a:rPr sz="1700" dirty="0">
                <a:solidFill>
                  <a:srgbClr val="2C3E50"/>
                </a:solidFill>
                <a:latin typeface="Calibri"/>
              </a:rPr>
              <a:t>: PCA channel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combination (</a:t>
            </a:r>
            <a:r>
              <a:rPr sz="1700" dirty="0" err="1">
                <a:solidFill>
                  <a:srgbClr val="2C3E50"/>
                </a:solidFill>
                <a:latin typeface="Calibri"/>
              </a:rPr>
              <a:t>maximises</a:t>
            </a:r>
            <a:r>
              <a:rPr sz="1700" dirty="0">
                <a:solidFill>
                  <a:srgbClr val="2C3E50"/>
                </a:solidFill>
                <a:latin typeface="Calibri"/>
              </a:rPr>
              <a:t> SNR) + cross‑correlation matched filter</a:t>
            </a:r>
            <a:endParaRPr sz="1700" b="1" dirty="0">
              <a:solidFill>
                <a:srgbClr val="2C3E50"/>
              </a:solidFill>
              <a:latin typeface="Calibri"/>
            </a:endParaRPr>
          </a:p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700" i="1" dirty="0">
                <a:solidFill>
                  <a:srgbClr val="2C3E50"/>
                </a:solidFill>
                <a:latin typeface="Calibri"/>
              </a:rPr>
              <a:t>MECG cancellation</a:t>
            </a:r>
            <a:r>
              <a:rPr sz="1700" dirty="0">
                <a:solidFill>
                  <a:srgbClr val="2C3E50"/>
                </a:solidFill>
                <a:latin typeface="Calibri"/>
              </a:rPr>
              <a:t>: average P‑wave/QRS/T‑wave templates, each </a:t>
            </a:r>
            <a:r>
              <a:rPr sz="1700" b="1" dirty="0">
                <a:solidFill>
                  <a:srgbClr val="2C3E50"/>
                </a:solidFill>
                <a:latin typeface="Calibri"/>
              </a:rPr>
              <a:t>scaled independently</a:t>
            </a:r>
            <a:r>
              <a:rPr sz="1700" dirty="0">
                <a:solidFill>
                  <a:srgbClr val="2C3E50"/>
                </a:solidFill>
                <a:latin typeface="Calibri"/>
              </a:rPr>
              <a:t> via least squares</a:t>
            </a:r>
          </a:p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lang="it-IT" sz="1700" i="1" dirty="0" err="1">
                <a:solidFill>
                  <a:srgbClr val="2C3E50"/>
                </a:solidFill>
                <a:latin typeface="Calibri"/>
              </a:rPr>
              <a:t>Numerical</a:t>
            </a:r>
            <a:r>
              <a:rPr lang="it-IT" sz="1700" i="1" dirty="0">
                <a:solidFill>
                  <a:srgbClr val="2C3E50"/>
                </a:solidFill>
                <a:latin typeface="Calibri"/>
              </a:rPr>
              <a:t> </a:t>
            </a:r>
            <a:r>
              <a:rPr lang="it-IT" sz="1700" i="1" dirty="0" err="1">
                <a:solidFill>
                  <a:srgbClr val="2C3E50"/>
                </a:solidFill>
                <a:latin typeface="Calibri"/>
              </a:rPr>
              <a:t>Stability</a:t>
            </a:r>
            <a:r>
              <a:rPr lang="it-IT" sz="1700" dirty="0">
                <a:solidFill>
                  <a:srgbClr val="2C3E50"/>
                </a:solidFill>
              </a:rPr>
              <a:t>:</a:t>
            </a:r>
            <a:r>
              <a:rPr lang="it-IT" sz="1700" b="1" dirty="0">
                <a:solidFill>
                  <a:srgbClr val="2C3E50"/>
                </a:solidFill>
              </a:rPr>
              <a:t> </a:t>
            </a:r>
            <a:r>
              <a:rPr lang="it-IT" sz="1700" b="1" dirty="0" err="1">
                <a:solidFill>
                  <a:srgbClr val="2C3E50"/>
                </a:solidFill>
              </a:rPr>
              <a:t>ridge</a:t>
            </a:r>
            <a:r>
              <a:rPr lang="it-IT" sz="1700" b="1" dirty="0">
                <a:solidFill>
                  <a:srgbClr val="2C3E50"/>
                </a:solidFill>
              </a:rPr>
              <a:t> Tikhonov </a:t>
            </a:r>
            <a:r>
              <a:rPr lang="it-IT" sz="1700" b="1" dirty="0" err="1">
                <a:solidFill>
                  <a:srgbClr val="2C3E50"/>
                </a:solidFill>
              </a:rPr>
              <a:t>regularisation</a:t>
            </a:r>
            <a:r>
              <a:rPr lang="it-IT" sz="1700" b="1" dirty="0">
                <a:solidFill>
                  <a:srgbClr val="2C3E50"/>
                </a:solidFill>
              </a:rPr>
              <a:t> </a:t>
            </a:r>
            <a:r>
              <a:rPr lang="it-IT" sz="1700" dirty="0" err="1">
                <a:solidFill>
                  <a:srgbClr val="2C3E50"/>
                </a:solidFill>
              </a:rPr>
              <a:t>applied</a:t>
            </a:r>
            <a:r>
              <a:rPr lang="it-IT" sz="1700" dirty="0">
                <a:solidFill>
                  <a:srgbClr val="2C3E50"/>
                </a:solidFill>
              </a:rPr>
              <a:t> to the </a:t>
            </a:r>
            <a:r>
              <a:rPr lang="it-IT" sz="1700" dirty="0" err="1">
                <a:solidFill>
                  <a:srgbClr val="2C3E50"/>
                </a:solidFill>
              </a:rPr>
              <a:t>least</a:t>
            </a:r>
            <a:r>
              <a:rPr lang="it-IT" sz="1700" dirty="0">
                <a:solidFill>
                  <a:srgbClr val="2C3E50"/>
                </a:solidFill>
              </a:rPr>
              <a:t> </a:t>
            </a:r>
            <a:r>
              <a:rPr lang="it-IT" sz="1700" dirty="0" err="1">
                <a:solidFill>
                  <a:srgbClr val="2C3E50"/>
                </a:solidFill>
              </a:rPr>
              <a:t>squares</a:t>
            </a:r>
            <a:r>
              <a:rPr lang="it-IT" sz="1700" dirty="0">
                <a:solidFill>
                  <a:srgbClr val="2C3E50"/>
                </a:solidFill>
              </a:rPr>
              <a:t> </a:t>
            </a:r>
            <a:r>
              <a:rPr lang="it-IT" sz="1700" dirty="0" err="1">
                <a:solidFill>
                  <a:srgbClr val="2C3E50"/>
                </a:solidFill>
              </a:rPr>
              <a:t>fit</a:t>
            </a:r>
            <a:endParaRPr sz="1700" dirty="0">
              <a:solidFill>
                <a:srgbClr val="2C3E50"/>
              </a:solidFill>
              <a:latin typeface="Calibr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45721" y="1179576"/>
            <a:ext cx="6070917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maternal_qrs_detection_and_mecg_cancellation_s4_s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585" y="1234440"/>
            <a:ext cx="5961189" cy="47823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73584" y="6108192"/>
            <a:ext cx="661519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A6B78"/>
                </a:solidFill>
                <a:latin typeface="Calibri"/>
              </a:rPr>
              <a:t>Figure 2. maternal QRS detection &amp; MECG cancellation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A6B78"/>
                </a:solidFill>
                <a:latin typeface="Calibri"/>
              </a:rPr>
              <a:t>Robust Fetal ECG Detection -- Sequential Analysis vs. 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46400" y="6446520"/>
            <a:ext cx="242375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it-IT" sz="900" dirty="0">
                <a:solidFill>
                  <a:srgbClr val="5A6B78"/>
                </a:solidFill>
                <a:latin typeface="Calibri"/>
              </a:rPr>
              <a:t>7</a:t>
            </a:r>
            <a:endParaRPr sz="900" dirty="0">
              <a:solidFill>
                <a:srgbClr val="5A6B7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2C3E50"/>
                </a:solidFill>
                <a:latin typeface="Calibri"/>
              </a:rPr>
              <a:t>Stage 5: fetal QRS detection &amp; FECG extraction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005840" cy="3810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592982"/>
            <a:ext cx="4250624" cy="23852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</a:t>
            </a:r>
            <a:r>
              <a:rPr lang="it-IT" sz="1700" i="1" dirty="0">
                <a:solidFill>
                  <a:srgbClr val="2C3E50"/>
                </a:solidFill>
              </a:rPr>
              <a:t>Signal </a:t>
            </a:r>
            <a:r>
              <a:rPr lang="it-IT" sz="1700" i="1" dirty="0" err="1">
                <a:solidFill>
                  <a:srgbClr val="2C3E50"/>
                </a:solidFill>
              </a:rPr>
              <a:t>enhancement</a:t>
            </a:r>
            <a:r>
              <a:rPr lang="it-IT" sz="1700" dirty="0">
                <a:solidFill>
                  <a:srgbClr val="2C3E50"/>
                </a:solidFill>
              </a:rPr>
              <a:t>: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PCA </a:t>
            </a:r>
            <a:r>
              <a:rPr lang="it-IT" sz="1700" dirty="0" err="1">
                <a:solidFill>
                  <a:srgbClr val="2C3E50"/>
                </a:solidFill>
                <a:latin typeface="Calibri"/>
              </a:rPr>
              <a:t>applied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 to</a:t>
            </a:r>
            <a:r>
              <a:rPr sz="1700" dirty="0">
                <a:solidFill>
                  <a:srgbClr val="2C3E50"/>
                </a:solidFill>
                <a:latin typeface="Calibri"/>
              </a:rPr>
              <a:t> the MECG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free signal</a:t>
            </a:r>
          </a:p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700" i="1" dirty="0">
                <a:solidFill>
                  <a:srgbClr val="2C3E50"/>
                </a:solidFill>
                <a:latin typeface="Calibri"/>
              </a:rPr>
              <a:t>Candidate peaks</a:t>
            </a:r>
            <a:r>
              <a:rPr sz="1700" dirty="0">
                <a:solidFill>
                  <a:srgbClr val="2C3E50"/>
                </a:solidFill>
                <a:latin typeface="Calibri"/>
              </a:rPr>
              <a:t>: squared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signal </a:t>
            </a:r>
            <a:r>
              <a:rPr sz="1700" b="1" dirty="0">
                <a:solidFill>
                  <a:srgbClr val="2C3E50"/>
                </a:solidFill>
                <a:latin typeface="Calibri"/>
              </a:rPr>
              <a:t>energy thresholding</a:t>
            </a:r>
          </a:p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700" i="1" dirty="0">
                <a:solidFill>
                  <a:srgbClr val="2C3E50"/>
                </a:solidFill>
                <a:latin typeface="Calibri"/>
              </a:rPr>
              <a:t>Refinement</a:t>
            </a:r>
            <a:r>
              <a:rPr sz="1700" dirty="0">
                <a:solidFill>
                  <a:srgbClr val="2C3E50"/>
                </a:solidFill>
                <a:latin typeface="Calibri"/>
              </a:rPr>
              <a:t>: cross‑correlation matched filter</a:t>
            </a:r>
          </a:p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700" i="1" dirty="0">
                <a:solidFill>
                  <a:srgbClr val="2C3E50"/>
                </a:solidFill>
                <a:latin typeface="Calibri"/>
              </a:rPr>
              <a:t>Final step</a:t>
            </a:r>
            <a:r>
              <a:rPr sz="1700" dirty="0">
                <a:solidFill>
                  <a:srgbClr val="2C3E50"/>
                </a:solidFill>
                <a:latin typeface="Calibri"/>
              </a:rPr>
              <a:t>: synchronous averaging of ~150 beats 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to </a:t>
            </a:r>
            <a:r>
              <a:rPr lang="it-IT" sz="1700" dirty="0" err="1">
                <a:solidFill>
                  <a:srgbClr val="2C3E50"/>
                </a:solidFill>
                <a:latin typeface="Calibri"/>
              </a:rPr>
              <a:t>achieve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 an</a:t>
            </a:r>
            <a:r>
              <a:rPr sz="1700" dirty="0">
                <a:solidFill>
                  <a:srgbClr val="2C3E50"/>
                </a:solidFill>
                <a:latin typeface="Calibri"/>
              </a:rPr>
              <a:t> SNR boost of √N</a:t>
            </a:r>
          </a:p>
        </p:txBody>
      </p:sp>
      <p:sp>
        <p:nvSpPr>
          <p:cNvPr id="6" name="Rectangle 5"/>
          <p:cNvSpPr/>
          <p:nvPr/>
        </p:nvSpPr>
        <p:spPr>
          <a:xfrm>
            <a:off x="5923376" y="1179576"/>
            <a:ext cx="4915607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maternal_and_fetal_qrs_detection.png"/>
          <p:cNvPicPr>
            <a:picLocks noChangeAspect="1"/>
          </p:cNvPicPr>
          <p:nvPr/>
        </p:nvPicPr>
        <p:blipFill>
          <a:blip r:embed="rId3"/>
          <a:srcRect l="50000" t="6000"/>
          <a:stretch>
            <a:fillRect/>
          </a:stretch>
        </p:blipFill>
        <p:spPr>
          <a:xfrm>
            <a:off x="5978240" y="1234440"/>
            <a:ext cx="4805879" cy="47823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73584" y="6108192"/>
            <a:ext cx="661519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A6B78"/>
                </a:solidFill>
                <a:latin typeface="Calibri"/>
              </a:rPr>
              <a:t>Figure 3. fetal QRS detection &amp; FECG extraction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A6B78"/>
                </a:solidFill>
                <a:latin typeface="Calibri"/>
              </a:rPr>
              <a:t>Robust Fetal ECG Detection -- Sequential Analysis vs. 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46400" y="6446520"/>
            <a:ext cx="242375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it-IT" sz="900" dirty="0">
                <a:solidFill>
                  <a:srgbClr val="5A6B78"/>
                </a:solidFill>
                <a:latin typeface="Calibri"/>
              </a:rPr>
              <a:t>8</a:t>
            </a:r>
            <a:endParaRPr sz="900" dirty="0">
              <a:solidFill>
                <a:srgbClr val="5A6B7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2C3E50"/>
                </a:solidFill>
                <a:latin typeface="Calibri"/>
              </a:rPr>
              <a:t>Full pipeline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005840" cy="3810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516192"/>
            <a:ext cx="11185855" cy="3539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Raw → cleaned → MECG removed → clean averaged fetal beat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1143" y="2688336"/>
            <a:ext cx="6709408" cy="338327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equential_analysis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6007" y="2743200"/>
            <a:ext cx="6599680" cy="32735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108192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A6B78"/>
                </a:solidFill>
                <a:latin typeface="Calibri"/>
              </a:rPr>
              <a:t>Figure 4. Full pipeline at a glance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A6B78"/>
                </a:solidFill>
                <a:latin typeface="Calibri"/>
              </a:rPr>
              <a:t>Robust Fetal ECG Detection -- Sequential Analysis vs. 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46400" y="6446520"/>
            <a:ext cx="242375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it-IT" sz="900" dirty="0">
                <a:solidFill>
                  <a:srgbClr val="5A6B78"/>
                </a:solidFill>
                <a:latin typeface="Calibri"/>
              </a:rPr>
              <a:t>9</a:t>
            </a:r>
            <a:endParaRPr sz="900" dirty="0">
              <a:solidFill>
                <a:srgbClr val="5A6B7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3E50"/>
                </a:solidFill>
                <a:latin typeface="Calibri"/>
              </a:rPr>
              <a:t>Qualitative validation against ground truth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005840" cy="3810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931536"/>
            <a:ext cx="4250624" cy="1708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Detected fetal QRS peaks (red) vs. ground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truth annotations (blue), ±50 </a:t>
            </a:r>
            <a:r>
              <a:rPr sz="1700" dirty="0" err="1">
                <a:solidFill>
                  <a:srgbClr val="2C3E50"/>
                </a:solidFill>
                <a:latin typeface="Calibri"/>
              </a:rPr>
              <a:t>ms</a:t>
            </a:r>
            <a:r>
              <a:rPr sz="1700" dirty="0">
                <a:solidFill>
                  <a:srgbClr val="2C3E50"/>
                </a:solidFill>
                <a:latin typeface="Calibri"/>
              </a:rPr>
              <a:t> tolerance</a:t>
            </a:r>
          </a:p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10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s</a:t>
            </a:r>
            <a:r>
              <a:rPr lang="it-IT" sz="1700" dirty="0" err="1">
                <a:solidFill>
                  <a:srgbClr val="2C3E50"/>
                </a:solidFill>
                <a:latin typeface="Calibri"/>
              </a:rPr>
              <a:t>econd</a:t>
            </a:r>
            <a:r>
              <a:rPr sz="1700" dirty="0">
                <a:solidFill>
                  <a:srgbClr val="2C3E50"/>
                </a:solidFill>
                <a:latin typeface="Calibri"/>
              </a:rPr>
              <a:t>, 4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channel strip</a:t>
            </a:r>
          </a:p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Averaged fetal morphology across 124 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ground truth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matched beats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18720" y="1214288"/>
            <a:ext cx="6724918" cy="4822614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detection_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3584" y="1269152"/>
            <a:ext cx="6615190" cy="47128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73584" y="6073479"/>
            <a:ext cx="661519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A6B78"/>
                </a:solidFill>
                <a:latin typeface="Calibri"/>
              </a:rPr>
              <a:t>Figure 5. Qualitative validation against ground truth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A6B78"/>
                </a:solidFill>
                <a:latin typeface="Calibri"/>
              </a:rPr>
              <a:t>Robust Fetal ECG Detection -- Sequential Analysis vs. 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8692" y="6446520"/>
            <a:ext cx="30008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it-IT" sz="900" dirty="0">
                <a:solidFill>
                  <a:srgbClr val="5A6B78"/>
                </a:solidFill>
                <a:latin typeface="Calibri"/>
              </a:rPr>
              <a:t>10</a:t>
            </a:r>
            <a:endParaRPr sz="900" dirty="0">
              <a:solidFill>
                <a:srgbClr val="5A6B7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2C3E50"/>
                </a:solidFill>
                <a:latin typeface="Calibri"/>
              </a:rPr>
              <a:t>Baseline comparison: the ICA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005840" cy="3810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19" y="1417320"/>
            <a:ext cx="11185855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700" dirty="0" err="1">
                <a:solidFill>
                  <a:srgbClr val="2C3E50"/>
                </a:solidFill>
                <a:latin typeface="Calibri"/>
              </a:rPr>
              <a:t>FastICA</a:t>
            </a:r>
            <a:r>
              <a:rPr sz="1700" dirty="0">
                <a:solidFill>
                  <a:srgbClr val="2C3E50"/>
                </a:solidFill>
                <a:latin typeface="Calibri"/>
              </a:rPr>
              <a:t> run on the same preprocessed data (baseline wander + PLI removed) as the </a:t>
            </a:r>
            <a:r>
              <a:rPr sz="1700" i="1" dirty="0">
                <a:solidFill>
                  <a:srgbClr val="2C3E50"/>
                </a:solidFill>
                <a:latin typeface="Calibri"/>
              </a:rPr>
              <a:t>"blind"</a:t>
            </a:r>
            <a:r>
              <a:rPr sz="1700" dirty="0">
                <a:solidFill>
                  <a:srgbClr val="2C3E50"/>
                </a:solidFill>
                <a:latin typeface="Calibri"/>
              </a:rPr>
              <a:t> alternative</a:t>
            </a:r>
          </a:p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Best independent component auto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selected by FHR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detection yield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1143" y="2688336"/>
            <a:ext cx="6709408" cy="338327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ca_algorithm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6007" y="2743200"/>
            <a:ext cx="6599680" cy="32735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108192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 dirty="0">
                <a:solidFill>
                  <a:srgbClr val="5A6B78"/>
                </a:solidFill>
                <a:latin typeface="Calibri"/>
              </a:rPr>
              <a:t>Figure 6. Baseline comparison: the ICA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A6B78"/>
                </a:solidFill>
                <a:latin typeface="Calibri"/>
              </a:rPr>
              <a:t>Robust Fetal ECG Detection -- Sequential Analysis vs. 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8692" y="6446520"/>
            <a:ext cx="30008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dirty="0">
                <a:solidFill>
                  <a:srgbClr val="5A6B78"/>
                </a:solidFill>
                <a:latin typeface="Calibri"/>
              </a:rPr>
              <a:t>1</a:t>
            </a:r>
            <a:r>
              <a:rPr lang="it-IT" sz="900" dirty="0">
                <a:solidFill>
                  <a:srgbClr val="5A6B78"/>
                </a:solidFill>
                <a:latin typeface="Calibri"/>
              </a:rPr>
              <a:t>1</a:t>
            </a:r>
            <a:endParaRPr sz="900" dirty="0">
              <a:solidFill>
                <a:srgbClr val="5A6B7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3E50"/>
                </a:solidFill>
                <a:latin typeface="Calibri"/>
              </a:rPr>
              <a:t>Evaluation metrics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005840" cy="3810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02920" y="1234440"/>
            <a:ext cx="11185855" cy="888796"/>
          </a:xfrm>
          <a:prstGeom prst="roundRect">
            <a:avLst>
              <a:gd name="adj" fmla="val 12000"/>
            </a:avLst>
          </a:prstGeom>
          <a:solidFill>
            <a:srgbClr val="F8F9FA"/>
          </a:solidFill>
          <a:ln w="9525">
            <a:solidFill>
              <a:srgbClr val="DD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l"/>
            <a:r>
              <a:rPr sz="1600" b="1" dirty="0">
                <a:solidFill>
                  <a:srgbClr val="2C3E50"/>
                </a:solidFill>
                <a:latin typeface="Calibri"/>
              </a:rPr>
              <a:t>Success</a:t>
            </a:r>
          </a:p>
          <a:p>
            <a:pPr algn="l">
              <a:spcBef>
                <a:spcPts val="400"/>
              </a:spcBef>
            </a:pPr>
            <a:r>
              <a:rPr sz="1100" i="1" dirty="0">
                <a:solidFill>
                  <a:srgbClr val="5A6B78"/>
                </a:solidFill>
                <a:latin typeface="Calibri"/>
              </a:rPr>
              <a:t>coverage ≥ 60% of the recording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7828"/>
            <a:ext cx="11185855" cy="888796"/>
          </a:xfrm>
          <a:prstGeom prst="roundRect">
            <a:avLst>
              <a:gd name="adj" fmla="val 12000"/>
            </a:avLst>
          </a:prstGeom>
          <a:solidFill>
            <a:srgbClr val="F8F9FA"/>
          </a:solidFill>
          <a:ln w="9525">
            <a:solidFill>
              <a:srgbClr val="DD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l"/>
            <a:r>
              <a:rPr sz="1600" b="1" dirty="0">
                <a:solidFill>
                  <a:srgbClr val="2C3E50"/>
                </a:solidFill>
                <a:latin typeface="Calibri"/>
              </a:rPr>
              <a:t>Reliability</a:t>
            </a:r>
          </a:p>
          <a:p>
            <a:pPr algn="l">
              <a:spcBef>
                <a:spcPts val="400"/>
              </a:spcBef>
            </a:pPr>
            <a:r>
              <a:rPr sz="1100" i="1" dirty="0">
                <a:solidFill>
                  <a:srgbClr val="5A6B78"/>
                </a:solidFill>
                <a:latin typeface="Calibri"/>
              </a:rPr>
              <a:t>outlier: deviates &gt;10 bpm from its 10 s block's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41217"/>
            <a:ext cx="11185855" cy="888796"/>
          </a:xfrm>
          <a:prstGeom prst="roundRect">
            <a:avLst>
              <a:gd name="adj" fmla="val 12000"/>
            </a:avLst>
          </a:prstGeom>
          <a:solidFill>
            <a:srgbClr val="F8F9FA"/>
          </a:solidFill>
          <a:ln w="9525">
            <a:solidFill>
              <a:srgbClr val="DD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l"/>
            <a:r>
              <a:rPr sz="1600" b="1" dirty="0">
                <a:solidFill>
                  <a:srgbClr val="2C3E50"/>
                </a:solidFill>
                <a:latin typeface="Calibri"/>
              </a:rPr>
              <a:t>SNR / SIR (dB, per channel j)</a:t>
            </a:r>
          </a:p>
          <a:p>
            <a:pPr algn="l">
              <a:spcBef>
                <a:spcPts val="400"/>
              </a:spcBef>
            </a:pPr>
            <a:r>
              <a:rPr sz="1100" i="1" dirty="0">
                <a:solidFill>
                  <a:srgbClr val="5A6B78"/>
                </a:solidFill>
                <a:latin typeface="Calibri"/>
              </a:rPr>
              <a:t>FECG, MECG, and noise power taken from S6, S4−S5, and the residual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94606"/>
            <a:ext cx="11185855" cy="888796"/>
          </a:xfrm>
          <a:prstGeom prst="roundRect">
            <a:avLst>
              <a:gd name="adj" fmla="val 12000"/>
            </a:avLst>
          </a:prstGeom>
          <a:solidFill>
            <a:srgbClr val="F8F9FA"/>
          </a:solidFill>
          <a:ln w="9525">
            <a:solidFill>
              <a:srgbClr val="DD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l"/>
            <a:r>
              <a:rPr sz="1600" b="1" dirty="0">
                <a:solidFill>
                  <a:srgbClr val="2C3E50"/>
                </a:solidFill>
                <a:latin typeface="Calibri"/>
              </a:rPr>
              <a:t>Precision / Recall / F1</a:t>
            </a:r>
          </a:p>
          <a:p>
            <a:pPr algn="l">
              <a:spcBef>
                <a:spcPts val="400"/>
              </a:spcBef>
            </a:pPr>
            <a:r>
              <a:rPr sz="1100" i="1" dirty="0">
                <a:solidFill>
                  <a:srgbClr val="5A6B78"/>
                </a:solidFill>
                <a:latin typeface="Calibri"/>
              </a:rPr>
              <a:t>matched to ground truth at ±50 </a:t>
            </a:r>
            <a:r>
              <a:rPr sz="1100" i="1" dirty="0" err="1">
                <a:solidFill>
                  <a:srgbClr val="5A6B78"/>
                </a:solidFill>
                <a:latin typeface="Calibri"/>
              </a:rPr>
              <a:t>ms</a:t>
            </a:r>
            <a:r>
              <a:rPr sz="1100" i="1" dirty="0">
                <a:solidFill>
                  <a:srgbClr val="5A6B78"/>
                </a:solidFill>
                <a:latin typeface="Calibri"/>
              </a:rPr>
              <a:t> tolerance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47995"/>
            <a:ext cx="11185855" cy="888796"/>
          </a:xfrm>
          <a:prstGeom prst="roundRect">
            <a:avLst>
              <a:gd name="adj" fmla="val 12000"/>
            </a:avLst>
          </a:prstGeom>
          <a:solidFill>
            <a:srgbClr val="F8F9FA"/>
          </a:solidFill>
          <a:ln w="9525">
            <a:solidFill>
              <a:srgbClr val="DD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rtlCol="0" anchor="ctr"/>
          <a:lstStyle/>
          <a:p>
            <a:pPr algn="l"/>
            <a:r>
              <a:rPr sz="1600" b="1" dirty="0">
                <a:solidFill>
                  <a:srgbClr val="2C3E50"/>
                </a:solidFill>
                <a:latin typeface="Calibri"/>
              </a:rPr>
              <a:t>FHR-value MAE / RMSE (bpm)</a:t>
            </a:r>
            <a:endParaRPr lang="it-IT" sz="1900" dirty="0">
              <a:solidFill>
                <a:srgbClr val="2C3E50"/>
              </a:solidFill>
              <a:latin typeface="Calibri"/>
            </a:endParaRPr>
          </a:p>
          <a:p>
            <a:pPr algn="l">
              <a:spcBef>
                <a:spcPts val="400"/>
              </a:spcBef>
            </a:pPr>
            <a:r>
              <a:rPr sz="1100" i="1" dirty="0">
                <a:solidFill>
                  <a:srgbClr val="5A6B78"/>
                </a:solidFill>
                <a:latin typeface="Calibri"/>
              </a:rPr>
              <a:t>estimated vs. ground</a:t>
            </a:r>
            <a:r>
              <a:rPr lang="it-IT" sz="1100" i="1" dirty="0">
                <a:solidFill>
                  <a:srgbClr val="5A6B78"/>
                </a:solidFill>
                <a:latin typeface="Calibri"/>
              </a:rPr>
              <a:t> </a:t>
            </a:r>
            <a:r>
              <a:rPr sz="1100" i="1" dirty="0">
                <a:solidFill>
                  <a:srgbClr val="5A6B78"/>
                </a:solidFill>
                <a:latin typeface="Calibri"/>
              </a:rPr>
              <a:t>truth FHR, common 1 s grid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4652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A6B78"/>
                </a:solidFill>
                <a:latin typeface="Calibri"/>
              </a:rPr>
              <a:t>Robust Fetal ECG Detection -- Sequential Analysis vs. 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8692" y="6446520"/>
            <a:ext cx="30008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dirty="0">
                <a:solidFill>
                  <a:srgbClr val="5A6B78"/>
                </a:solidFill>
                <a:latin typeface="Calibri"/>
              </a:rPr>
              <a:t>1</a:t>
            </a:r>
            <a:r>
              <a:rPr lang="it-IT" sz="900" dirty="0">
                <a:solidFill>
                  <a:srgbClr val="5A6B78"/>
                </a:solidFill>
                <a:latin typeface="Calibri"/>
              </a:rPr>
              <a:t>2</a:t>
            </a:r>
            <a:endParaRPr sz="900" dirty="0">
              <a:solidFill>
                <a:srgbClr val="5A6B78"/>
              </a:solidFill>
              <a:latin typeface="Calibri"/>
            </a:endParaRPr>
          </a:p>
        </p:txBody>
      </p:sp>
      <p:pic>
        <p:nvPicPr>
          <p:cNvPr id="12" name="Picture 11" descr="eq_success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9130" y="1552920"/>
            <a:ext cx="1542743" cy="251836"/>
          </a:xfrm>
          <a:prstGeom prst="rect">
            <a:avLst/>
          </a:prstGeom>
        </p:spPr>
      </p:pic>
      <p:pic>
        <p:nvPicPr>
          <p:cNvPr id="13" name="Picture 12" descr="eq_reliability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9130" y="2475111"/>
            <a:ext cx="1515366" cy="522540"/>
          </a:xfrm>
          <a:prstGeom prst="rect">
            <a:avLst/>
          </a:prstGeom>
        </p:spPr>
      </p:pic>
      <p:pic>
        <p:nvPicPr>
          <p:cNvPr id="14" name="Picture 13" descr="eq_snr_sir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9130" y="3554013"/>
            <a:ext cx="1811935" cy="487243"/>
          </a:xfrm>
          <a:prstGeom prst="rect">
            <a:avLst/>
          </a:prstGeom>
        </p:spPr>
      </p:pic>
      <p:pic>
        <p:nvPicPr>
          <p:cNvPr id="15" name="Picture 14" descr="eq_snr_sir_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31309" y="3541993"/>
            <a:ext cx="1747222" cy="487243"/>
          </a:xfrm>
          <a:prstGeom prst="rect">
            <a:avLst/>
          </a:prstGeom>
        </p:spPr>
      </p:pic>
      <p:pic>
        <p:nvPicPr>
          <p:cNvPr id="16" name="Picture 15" descr="eq_prf1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09130" y="4604878"/>
            <a:ext cx="3360248" cy="456843"/>
          </a:xfrm>
          <a:prstGeom prst="rect">
            <a:avLst/>
          </a:prstGeom>
        </p:spPr>
      </p:pic>
      <p:pic>
        <p:nvPicPr>
          <p:cNvPr id="17" name="Picture 16" descr="eq_prf1_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59771" y="4610582"/>
            <a:ext cx="2078962" cy="453793"/>
          </a:xfrm>
          <a:prstGeom prst="rect">
            <a:avLst/>
          </a:prstGeom>
        </p:spPr>
      </p:pic>
      <p:pic>
        <p:nvPicPr>
          <p:cNvPr id="18" name="Picture 17" descr="eq_mae_rmse_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09130" y="5584318"/>
            <a:ext cx="2628424" cy="559867"/>
          </a:xfrm>
          <a:prstGeom prst="rect">
            <a:avLst/>
          </a:prstGeom>
        </p:spPr>
      </p:pic>
      <p:pic>
        <p:nvPicPr>
          <p:cNvPr id="19" name="Picture 18" descr="eq_mae_rmse_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6984" y="5612458"/>
            <a:ext cx="2681749" cy="55986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2C3E50"/>
                </a:solidFill>
                <a:latin typeface="Calibri"/>
              </a:rPr>
              <a:t>Results I: success rate &amp; 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005840" cy="3810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85855" cy="14465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700" i="1" dirty="0">
                <a:solidFill>
                  <a:srgbClr val="2C3E50"/>
                </a:solidFill>
                <a:latin typeface="Calibri"/>
              </a:rPr>
              <a:t>FHR detection success rate</a:t>
            </a:r>
            <a:r>
              <a:rPr sz="1700" dirty="0">
                <a:solidFill>
                  <a:srgbClr val="2C3E50"/>
                </a:solidFill>
                <a:latin typeface="Calibri"/>
              </a:rPr>
              <a:t>: </a:t>
            </a:r>
            <a:r>
              <a:rPr lang="it-IT" sz="1700" i="1" dirty="0">
                <a:solidFill>
                  <a:srgbClr val="2C3E50"/>
                </a:solidFill>
                <a:latin typeface="Calibri"/>
              </a:rPr>
              <a:t>SA</a:t>
            </a:r>
            <a:r>
              <a:rPr sz="1700" b="1" dirty="0">
                <a:solidFill>
                  <a:srgbClr val="2C3E50"/>
                </a:solidFill>
                <a:latin typeface="Calibri"/>
              </a:rPr>
              <a:t> 92%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vs.</a:t>
            </a:r>
            <a:r>
              <a:rPr sz="1700" b="1" dirty="0">
                <a:solidFill>
                  <a:srgbClr val="2C3E50"/>
                </a:solidFill>
                <a:latin typeface="Calibri"/>
              </a:rPr>
              <a:t> </a:t>
            </a:r>
            <a:r>
              <a:rPr sz="1700" i="1" dirty="0">
                <a:solidFill>
                  <a:srgbClr val="2C3E50"/>
                </a:solidFill>
                <a:latin typeface="Calibri"/>
              </a:rPr>
              <a:t>ICA</a:t>
            </a:r>
            <a:r>
              <a:rPr sz="1700" b="1" dirty="0">
                <a:solidFill>
                  <a:srgbClr val="2C3E50"/>
                </a:solidFill>
                <a:latin typeface="Calibri"/>
              </a:rPr>
              <a:t> 96%</a:t>
            </a:r>
            <a:r>
              <a:rPr sz="1700" dirty="0">
                <a:solidFill>
                  <a:srgbClr val="2C3E50"/>
                </a:solidFill>
                <a:latin typeface="Calibri"/>
              </a:rPr>
              <a:t> (23/25 vs. 24/25 records)</a:t>
            </a:r>
          </a:p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700" i="1" dirty="0">
                <a:solidFill>
                  <a:srgbClr val="2C3E50"/>
                </a:solidFill>
                <a:latin typeface="Calibri"/>
              </a:rPr>
              <a:t>Mean FHR reliability</a:t>
            </a:r>
            <a:r>
              <a:rPr sz="1700" dirty="0">
                <a:solidFill>
                  <a:srgbClr val="2C3E50"/>
                </a:solidFill>
                <a:latin typeface="Calibri"/>
              </a:rPr>
              <a:t> (feasible records only): </a:t>
            </a:r>
            <a:r>
              <a:rPr lang="it-IT" sz="1700" i="1" dirty="0">
                <a:solidFill>
                  <a:srgbClr val="2C3E50"/>
                </a:solidFill>
                <a:latin typeface="Calibri"/>
              </a:rPr>
              <a:t>SA</a:t>
            </a:r>
            <a:r>
              <a:rPr sz="1700" b="1" dirty="0">
                <a:solidFill>
                  <a:srgbClr val="2C3E50"/>
                </a:solidFill>
                <a:latin typeface="Calibri"/>
              </a:rPr>
              <a:t> 0.753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vs.</a:t>
            </a:r>
            <a:r>
              <a:rPr sz="1700" b="1" dirty="0">
                <a:solidFill>
                  <a:srgbClr val="2C3E50"/>
                </a:solidFill>
                <a:latin typeface="Calibri"/>
              </a:rPr>
              <a:t> </a:t>
            </a:r>
            <a:r>
              <a:rPr sz="1700" i="1" dirty="0">
                <a:solidFill>
                  <a:srgbClr val="2C3E50"/>
                </a:solidFill>
                <a:latin typeface="Calibri"/>
              </a:rPr>
              <a:t>ICA</a:t>
            </a:r>
            <a:r>
              <a:rPr sz="1700" b="1" dirty="0">
                <a:solidFill>
                  <a:srgbClr val="2C3E50"/>
                </a:solidFill>
                <a:latin typeface="Calibri"/>
              </a:rPr>
              <a:t> 0.684</a:t>
            </a:r>
          </a:p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700" i="1" dirty="0">
                <a:solidFill>
                  <a:srgbClr val="2C3E50"/>
                </a:solidFill>
                <a:latin typeface="Calibri"/>
              </a:rPr>
              <a:t>Box plots</a:t>
            </a:r>
            <a:r>
              <a:rPr sz="1700" dirty="0">
                <a:solidFill>
                  <a:srgbClr val="2C3E50"/>
                </a:solidFill>
                <a:latin typeface="Calibri"/>
              </a:rPr>
              <a:t>: SA's spread is tighter and more consistent — ICA is bimodal (several near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perfect records, several collapsed as low as ~0.23)</a:t>
            </a:r>
          </a:p>
        </p:txBody>
      </p:sp>
      <p:sp>
        <p:nvSpPr>
          <p:cNvPr id="6" name="Rectangle 5"/>
          <p:cNvSpPr/>
          <p:nvPr/>
        </p:nvSpPr>
        <p:spPr>
          <a:xfrm>
            <a:off x="2107868" y="2688336"/>
            <a:ext cx="7975958" cy="338327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performance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2732" y="2743200"/>
            <a:ext cx="7866230" cy="32735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108192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A6B78"/>
                </a:solidFill>
                <a:latin typeface="Calibri"/>
              </a:rPr>
              <a:t>Figure 7. success rate &amp; reliability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A6B78"/>
                </a:solidFill>
                <a:latin typeface="Calibri"/>
              </a:rPr>
              <a:t>Robust Fetal ECG Detection -- Sequential Analysis vs. 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8692" y="6446520"/>
            <a:ext cx="30008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dirty="0">
                <a:solidFill>
                  <a:srgbClr val="5A6B78"/>
                </a:solidFill>
                <a:latin typeface="Calibri"/>
              </a:rPr>
              <a:t>1</a:t>
            </a:r>
            <a:r>
              <a:rPr lang="it-IT" sz="900" dirty="0">
                <a:solidFill>
                  <a:srgbClr val="5A6B78"/>
                </a:solidFill>
                <a:latin typeface="Calibri"/>
              </a:rPr>
              <a:t>3</a:t>
            </a:r>
            <a:endParaRPr sz="900" dirty="0">
              <a:solidFill>
                <a:srgbClr val="5A6B7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2C3E50"/>
                </a:solidFill>
                <a:latin typeface="Calibri"/>
              </a:rPr>
              <a:t>Results II: ground</a:t>
            </a:r>
            <a:r>
              <a:rPr lang="it-IT" sz="2800" b="1" dirty="0">
                <a:solidFill>
                  <a:srgbClr val="2C3E50"/>
                </a:solidFill>
                <a:latin typeface="Calibri"/>
              </a:rPr>
              <a:t> </a:t>
            </a:r>
            <a:r>
              <a:rPr sz="2800" b="1" dirty="0">
                <a:solidFill>
                  <a:srgbClr val="2C3E50"/>
                </a:solidFill>
                <a:latin typeface="Calibri"/>
              </a:rPr>
              <a:t>truth precision / recall / F1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005840" cy="3810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19" y="3062341"/>
            <a:ext cx="4378463" cy="1446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lang="it-IT" sz="1700" i="1" dirty="0">
                <a:solidFill>
                  <a:srgbClr val="2C3E50"/>
                </a:solidFill>
                <a:latin typeface="Calibri"/>
              </a:rPr>
              <a:t>SA</a:t>
            </a:r>
            <a:r>
              <a:rPr sz="1700" dirty="0">
                <a:solidFill>
                  <a:srgbClr val="2C3E50"/>
                </a:solidFill>
                <a:latin typeface="Calibri"/>
              </a:rPr>
              <a:t>:</a:t>
            </a:r>
            <a:r>
              <a:rPr sz="1700" b="1" dirty="0">
                <a:solidFill>
                  <a:srgbClr val="2C3E50"/>
                </a:solidFill>
                <a:latin typeface="Calibri"/>
              </a:rPr>
              <a:t> 77.4%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precision /</a:t>
            </a:r>
            <a:r>
              <a:rPr sz="1700" b="1" dirty="0">
                <a:solidFill>
                  <a:srgbClr val="2C3E50"/>
                </a:solidFill>
                <a:latin typeface="Calibri"/>
              </a:rPr>
              <a:t> 67.1%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recall /</a:t>
            </a:r>
            <a:r>
              <a:rPr sz="1700" b="1" dirty="0">
                <a:solidFill>
                  <a:srgbClr val="2C3E50"/>
                </a:solidFill>
                <a:latin typeface="Calibri"/>
              </a:rPr>
              <a:t> 71.9%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F1</a:t>
            </a:r>
          </a:p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700" i="1" dirty="0">
                <a:solidFill>
                  <a:srgbClr val="2C3E50"/>
                </a:solidFill>
                <a:latin typeface="Calibri"/>
              </a:rPr>
              <a:t>ICA</a:t>
            </a:r>
            <a:r>
              <a:rPr sz="1700" dirty="0">
                <a:solidFill>
                  <a:srgbClr val="2C3E50"/>
                </a:solidFill>
                <a:latin typeface="Calibri"/>
              </a:rPr>
              <a:t>:</a:t>
            </a:r>
            <a:r>
              <a:rPr sz="1700" b="1" dirty="0">
                <a:solidFill>
                  <a:srgbClr val="2C3E50"/>
                </a:solidFill>
                <a:latin typeface="Calibri"/>
              </a:rPr>
              <a:t> 59.7%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precision /</a:t>
            </a:r>
            <a:r>
              <a:rPr sz="1700" b="1" dirty="0">
                <a:solidFill>
                  <a:srgbClr val="2C3E50"/>
                </a:solidFill>
                <a:latin typeface="Calibri"/>
              </a:rPr>
              <a:t> 53.1%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recall /</a:t>
            </a:r>
            <a:r>
              <a:rPr sz="1700" b="1" dirty="0">
                <a:solidFill>
                  <a:srgbClr val="2C3E50"/>
                </a:solidFill>
                <a:latin typeface="Calibri"/>
              </a:rPr>
              <a:t> 56.2%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F1</a:t>
            </a:r>
          </a:p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Matched against ground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truth annotations, ±50 </a:t>
            </a:r>
            <a:r>
              <a:rPr sz="1700" dirty="0" err="1">
                <a:solidFill>
                  <a:srgbClr val="2C3E50"/>
                </a:solidFill>
                <a:latin typeface="Calibri"/>
              </a:rPr>
              <a:t>ms</a:t>
            </a:r>
            <a:r>
              <a:rPr sz="1700" dirty="0">
                <a:solidFill>
                  <a:srgbClr val="2C3E50"/>
                </a:solidFill>
                <a:latin typeface="Calibri"/>
              </a:rPr>
              <a:t> tolerance, all 25 records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181" y="1746160"/>
            <a:ext cx="6476594" cy="4041382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ground_truth_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7045" y="1779801"/>
            <a:ext cx="6370918" cy="39528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67045" y="5834844"/>
            <a:ext cx="637091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5A6B78"/>
                </a:solidFill>
                <a:latin typeface="Calibri"/>
              </a:rPr>
              <a:t>Figure 8. ground-truth precision / recall / F1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A6B78"/>
                </a:solidFill>
                <a:latin typeface="Calibri"/>
              </a:rPr>
              <a:t>Robust Fetal ECG Detection -- Sequential Analysis vs. 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8692" y="6446520"/>
            <a:ext cx="30008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dirty="0">
                <a:solidFill>
                  <a:srgbClr val="5A6B78"/>
                </a:solidFill>
                <a:latin typeface="Calibri"/>
              </a:rPr>
              <a:t>1</a:t>
            </a:r>
            <a:r>
              <a:rPr lang="it-IT" sz="900" dirty="0">
                <a:solidFill>
                  <a:srgbClr val="5A6B78"/>
                </a:solidFill>
                <a:latin typeface="Calibri"/>
              </a:rPr>
              <a:t>4</a:t>
            </a:r>
            <a:endParaRPr sz="900" dirty="0">
              <a:solidFill>
                <a:srgbClr val="5A6B7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2C3E50"/>
                </a:solidFill>
                <a:latin typeface="Calibri"/>
              </a:rPr>
              <a:t>Results III: FHR</a:t>
            </a:r>
            <a:r>
              <a:rPr lang="it-IT" sz="2800" b="1" dirty="0">
                <a:solidFill>
                  <a:srgbClr val="2C3E50"/>
                </a:solidFill>
                <a:latin typeface="Calibri"/>
              </a:rPr>
              <a:t> </a:t>
            </a:r>
            <a:r>
              <a:rPr sz="2800" b="1" dirty="0">
                <a:solidFill>
                  <a:srgbClr val="2C3E50"/>
                </a:solidFill>
                <a:latin typeface="Calibri"/>
              </a:rPr>
              <a:t>value accuracy (MAE/RMSE)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005840" cy="3810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18" y="1308443"/>
            <a:ext cx="11185855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lang="it-IT" sz="1700" i="1" dirty="0">
                <a:solidFill>
                  <a:srgbClr val="2C3E50"/>
                </a:solidFill>
                <a:latin typeface="Calibri"/>
              </a:rPr>
              <a:t>SA</a:t>
            </a:r>
            <a:r>
              <a:rPr sz="1700" dirty="0">
                <a:solidFill>
                  <a:srgbClr val="2C3E50"/>
                </a:solidFill>
                <a:latin typeface="Calibri"/>
              </a:rPr>
              <a:t>:</a:t>
            </a:r>
            <a:r>
              <a:rPr sz="1700" b="1" dirty="0">
                <a:solidFill>
                  <a:srgbClr val="2C3E50"/>
                </a:solidFill>
                <a:latin typeface="Calibri"/>
              </a:rPr>
              <a:t>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MAE</a:t>
            </a:r>
            <a:r>
              <a:rPr sz="1700" b="1" dirty="0">
                <a:solidFill>
                  <a:srgbClr val="2C3E50"/>
                </a:solidFill>
                <a:latin typeface="Calibri"/>
              </a:rPr>
              <a:t> 13.5 bpm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/ RMSE</a:t>
            </a:r>
            <a:r>
              <a:rPr sz="1700" b="1" dirty="0">
                <a:solidFill>
                  <a:srgbClr val="2C3E50"/>
                </a:solidFill>
                <a:latin typeface="Calibri"/>
              </a:rPr>
              <a:t> 17.4 bpm</a:t>
            </a:r>
          </a:p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700" i="1" dirty="0">
                <a:solidFill>
                  <a:srgbClr val="2C3E50"/>
                </a:solidFill>
                <a:latin typeface="Calibri"/>
              </a:rPr>
              <a:t>ICA</a:t>
            </a:r>
            <a:r>
              <a:rPr sz="1700" dirty="0">
                <a:solidFill>
                  <a:srgbClr val="2C3E50"/>
                </a:solidFill>
                <a:latin typeface="Calibri"/>
              </a:rPr>
              <a:t>:</a:t>
            </a:r>
            <a:r>
              <a:rPr sz="1700" b="1" dirty="0">
                <a:solidFill>
                  <a:srgbClr val="2C3E50"/>
                </a:solidFill>
                <a:latin typeface="Calibri"/>
              </a:rPr>
              <a:t>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MAE</a:t>
            </a:r>
            <a:r>
              <a:rPr sz="1700" b="1" dirty="0">
                <a:solidFill>
                  <a:srgbClr val="2C3E50"/>
                </a:solidFill>
                <a:latin typeface="Calibri"/>
              </a:rPr>
              <a:t> 18.0 bpm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/ RMSE</a:t>
            </a:r>
            <a:r>
              <a:rPr sz="1700" b="1" dirty="0">
                <a:solidFill>
                  <a:srgbClr val="2C3E50"/>
                </a:solidFill>
                <a:latin typeface="Calibri"/>
              </a:rPr>
              <a:t> 22.2 bpm</a:t>
            </a:r>
          </a:p>
        </p:txBody>
      </p:sp>
      <p:sp>
        <p:nvSpPr>
          <p:cNvPr id="6" name="Rectangle 5"/>
          <p:cNvSpPr/>
          <p:nvPr/>
        </p:nvSpPr>
        <p:spPr>
          <a:xfrm>
            <a:off x="2462167" y="2688336"/>
            <a:ext cx="7267359" cy="338327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fhr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7031" y="2743200"/>
            <a:ext cx="7157631" cy="32735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108192"/>
            <a:ext cx="111858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A6B78"/>
                </a:solidFill>
                <a:latin typeface="Calibri"/>
              </a:rPr>
              <a:t>Figure 9. FHR-value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A6B78"/>
                </a:solidFill>
                <a:latin typeface="Calibri"/>
              </a:rPr>
              <a:t>Robust Fetal ECG Detection -- Sequential Analysis vs. 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8692" y="6446520"/>
            <a:ext cx="30008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dirty="0">
                <a:solidFill>
                  <a:srgbClr val="5A6B78"/>
                </a:solidFill>
                <a:latin typeface="Calibri"/>
              </a:rPr>
              <a:t>1</a:t>
            </a:r>
            <a:r>
              <a:rPr lang="it-IT" sz="900" dirty="0">
                <a:solidFill>
                  <a:srgbClr val="5A6B78"/>
                </a:solidFill>
                <a:latin typeface="Calibri"/>
              </a:rPr>
              <a:t>5</a:t>
            </a:r>
            <a:endParaRPr sz="900" dirty="0">
              <a:solidFill>
                <a:srgbClr val="5A6B7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3E50"/>
                </a:solidFill>
                <a:latin typeface="Calibri"/>
              </a:rPr>
              <a:t>Results IV: robustness to matching tolerance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005840" cy="3810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3110069"/>
            <a:ext cx="4250624" cy="103105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F1 recomputed at 10 / 25 / 50 / 75 / 100 </a:t>
            </a:r>
            <a:r>
              <a:rPr sz="1700" dirty="0" err="1">
                <a:solidFill>
                  <a:srgbClr val="2C3E50"/>
                </a:solidFill>
                <a:latin typeface="Calibri"/>
              </a:rPr>
              <a:t>ms</a:t>
            </a:r>
            <a:r>
              <a:rPr sz="1700" dirty="0">
                <a:solidFill>
                  <a:srgbClr val="2C3E50"/>
                </a:solidFill>
                <a:latin typeface="Calibri"/>
              </a:rPr>
              <a:t> ground</a:t>
            </a:r>
            <a:r>
              <a:rPr lang="it-IT" sz="1700" dirty="0">
                <a:solidFill>
                  <a:srgbClr val="2C3E50"/>
                </a:solidFill>
                <a:latin typeface="Calibri"/>
              </a:rPr>
              <a:t> </a:t>
            </a:r>
            <a:r>
              <a:rPr sz="1700" dirty="0">
                <a:solidFill>
                  <a:srgbClr val="2C3E50"/>
                </a:solidFill>
                <a:latin typeface="Calibri"/>
              </a:rPr>
              <a:t>truth matching tolerances</a:t>
            </a:r>
          </a:p>
          <a:p>
            <a:pPr marL="274320" indent="-274320">
              <a:spcAft>
                <a:spcPts val="1200"/>
              </a:spcAft>
            </a:pPr>
            <a:r>
              <a:rPr sz="1700" dirty="0">
                <a:solidFill>
                  <a:srgbClr val="16A085"/>
                </a:solidFill>
                <a:latin typeface="Calibri"/>
              </a:rPr>
              <a:t>▪  </a:t>
            </a:r>
            <a:r>
              <a:rPr lang="it-IT" sz="1700" i="1" dirty="0">
                <a:solidFill>
                  <a:srgbClr val="2C3E50"/>
                </a:solidFill>
                <a:latin typeface="Calibri"/>
              </a:rPr>
              <a:t>SA</a:t>
            </a:r>
            <a:r>
              <a:rPr sz="1700" dirty="0">
                <a:solidFill>
                  <a:srgbClr val="2C3E50"/>
                </a:solidFill>
                <a:latin typeface="Calibri"/>
              </a:rPr>
              <a:t> leads </a:t>
            </a:r>
            <a:r>
              <a:rPr sz="1700" i="1" dirty="0">
                <a:solidFill>
                  <a:srgbClr val="2C3E50"/>
                </a:solidFill>
                <a:latin typeface="Calibri"/>
              </a:rPr>
              <a:t>ICA</a:t>
            </a:r>
            <a:r>
              <a:rPr sz="1700" dirty="0">
                <a:solidFill>
                  <a:srgbClr val="2C3E50"/>
                </a:solidFill>
                <a:latin typeface="Calibri"/>
              </a:rPr>
              <a:t> at </a:t>
            </a:r>
            <a:r>
              <a:rPr sz="1700" b="1" dirty="0">
                <a:solidFill>
                  <a:srgbClr val="2C3E50"/>
                </a:solidFill>
                <a:latin typeface="Calibri"/>
              </a:rPr>
              <a:t>every</a:t>
            </a:r>
            <a:r>
              <a:rPr sz="1700" dirty="0">
                <a:solidFill>
                  <a:srgbClr val="2C3E50"/>
                </a:solidFill>
                <a:latin typeface="Calibri"/>
              </a:rPr>
              <a:t> tolerance tested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018720" y="1518513"/>
            <a:ext cx="6724918" cy="421416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tolerance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3584" y="1573377"/>
            <a:ext cx="6615190" cy="410443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73584" y="5769254"/>
            <a:ext cx="661519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i="1">
                <a:solidFill>
                  <a:srgbClr val="5A6B78"/>
                </a:solidFill>
                <a:latin typeface="Calibri"/>
              </a:rPr>
              <a:t>Figure 10. robustness to matching tolerance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4652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A6B78"/>
                </a:solidFill>
                <a:latin typeface="Calibri"/>
              </a:rPr>
              <a:t>Robust Fetal ECG Detection -- Sequential Analysis vs. 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88692" y="6446520"/>
            <a:ext cx="30008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dirty="0">
                <a:solidFill>
                  <a:srgbClr val="5A6B78"/>
                </a:solidFill>
                <a:latin typeface="Calibri"/>
              </a:rPr>
              <a:t>1</a:t>
            </a:r>
            <a:r>
              <a:rPr lang="it-IT" sz="900" dirty="0">
                <a:solidFill>
                  <a:srgbClr val="5A6B78"/>
                </a:solidFill>
                <a:latin typeface="Calibri"/>
              </a:rPr>
              <a:t>6</a:t>
            </a:r>
            <a:endParaRPr sz="900" dirty="0">
              <a:solidFill>
                <a:srgbClr val="5A6B7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3E50"/>
                </a:solidFill>
                <a:latin typeface="Calibri"/>
              </a:rPr>
              <a:t>Results V: signal quality drives 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005840" cy="3810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1352564"/>
            <a:ext cx="4250624" cy="19082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1400" dirty="0">
                <a:solidFill>
                  <a:srgbClr val="16A085"/>
                </a:solidFill>
                <a:latin typeface="Calibri"/>
              </a:rPr>
              <a:t>▪  </a:t>
            </a:r>
            <a:r>
              <a:rPr lang="it-IT" sz="1400" i="1" dirty="0" err="1">
                <a:solidFill>
                  <a:srgbClr val="2C3E50"/>
                </a:solidFill>
                <a:latin typeface="Calibri"/>
              </a:rPr>
              <a:t>Noise</a:t>
            </a:r>
            <a:r>
              <a:rPr lang="it-IT" sz="1400" i="1" dirty="0">
                <a:solidFill>
                  <a:srgbClr val="2C3E50"/>
                </a:solidFill>
                <a:latin typeface="Calibri"/>
              </a:rPr>
              <a:t> </a:t>
            </a:r>
            <a:r>
              <a:rPr lang="it-IT" sz="1400" i="1" dirty="0" err="1">
                <a:solidFill>
                  <a:srgbClr val="2C3E50"/>
                </a:solidFill>
                <a:latin typeface="Calibri"/>
              </a:rPr>
              <a:t>conditions</a:t>
            </a:r>
            <a:r>
              <a:rPr sz="1400" dirty="0">
                <a:solidFill>
                  <a:srgbClr val="2C3E50"/>
                </a:solidFill>
                <a:latin typeface="Calibri"/>
              </a:rPr>
              <a:t>: mean </a:t>
            </a:r>
            <a:r>
              <a:rPr sz="1400" i="1" dirty="0">
                <a:solidFill>
                  <a:srgbClr val="2C3E50"/>
                </a:solidFill>
                <a:latin typeface="Calibri"/>
              </a:rPr>
              <a:t>SNR</a:t>
            </a:r>
            <a:r>
              <a:rPr sz="1400" dirty="0">
                <a:solidFill>
                  <a:srgbClr val="2C3E50"/>
                </a:solidFill>
                <a:latin typeface="Calibri"/>
              </a:rPr>
              <a:t> ≈ </a:t>
            </a:r>
            <a:r>
              <a:rPr sz="1400" b="1" dirty="0">
                <a:solidFill>
                  <a:srgbClr val="2C3E50"/>
                </a:solidFill>
                <a:latin typeface="Calibri"/>
              </a:rPr>
              <a:t>−4.9 dB</a:t>
            </a:r>
            <a:r>
              <a:rPr sz="1400" dirty="0">
                <a:solidFill>
                  <a:srgbClr val="2C3E50"/>
                </a:solidFill>
                <a:latin typeface="Calibri"/>
              </a:rPr>
              <a:t>, mean </a:t>
            </a:r>
            <a:r>
              <a:rPr sz="1400" i="1" dirty="0">
                <a:solidFill>
                  <a:srgbClr val="2C3E50"/>
                </a:solidFill>
                <a:latin typeface="Calibri"/>
              </a:rPr>
              <a:t>SIR</a:t>
            </a:r>
            <a:r>
              <a:rPr sz="1400" dirty="0">
                <a:solidFill>
                  <a:srgbClr val="2C3E50"/>
                </a:solidFill>
                <a:latin typeface="Calibri"/>
              </a:rPr>
              <a:t> ≈ </a:t>
            </a:r>
            <a:r>
              <a:rPr sz="1400" b="1" dirty="0">
                <a:solidFill>
                  <a:srgbClr val="2C3E50"/>
                </a:solidFill>
                <a:latin typeface="Calibri"/>
              </a:rPr>
              <a:t>−12.0 dB</a:t>
            </a:r>
          </a:p>
          <a:p>
            <a:pPr marL="274320" indent="-274320">
              <a:spcAft>
                <a:spcPts val="1200"/>
              </a:spcAft>
            </a:pPr>
            <a:r>
              <a:rPr sz="1400" dirty="0">
                <a:solidFill>
                  <a:srgbClr val="16A085"/>
                </a:solidFill>
                <a:latin typeface="Calibri"/>
              </a:rPr>
              <a:t>▪  </a:t>
            </a:r>
            <a:r>
              <a:rPr lang="it-IT" sz="1400" i="1" dirty="0">
                <a:solidFill>
                  <a:srgbClr val="2C3E50"/>
                </a:solidFill>
                <a:latin typeface="Calibri"/>
              </a:rPr>
              <a:t>SA</a:t>
            </a:r>
            <a:r>
              <a:rPr sz="1400" dirty="0">
                <a:solidFill>
                  <a:srgbClr val="2C3E50"/>
                </a:solidFill>
                <a:latin typeface="Calibri"/>
              </a:rPr>
              <a:t> reliability degrades gracefully as </a:t>
            </a:r>
            <a:r>
              <a:rPr sz="1400" i="1" dirty="0">
                <a:solidFill>
                  <a:srgbClr val="2C3E50"/>
                </a:solidFill>
                <a:latin typeface="Calibri"/>
              </a:rPr>
              <a:t>SNR/SIR</a:t>
            </a:r>
            <a:r>
              <a:rPr sz="1400" dirty="0">
                <a:solidFill>
                  <a:srgbClr val="2C3E50"/>
                </a:solidFill>
                <a:latin typeface="Calibri"/>
              </a:rPr>
              <a:t> drop; </a:t>
            </a:r>
            <a:r>
              <a:rPr sz="1400" i="1" dirty="0">
                <a:solidFill>
                  <a:srgbClr val="2C3E50"/>
                </a:solidFill>
                <a:latin typeface="Calibri"/>
              </a:rPr>
              <a:t>ICA</a:t>
            </a:r>
            <a:r>
              <a:rPr sz="1400" dirty="0">
                <a:solidFill>
                  <a:srgbClr val="2C3E50"/>
                </a:solidFill>
                <a:latin typeface="Calibri"/>
              </a:rPr>
              <a:t> collapses more sharply</a:t>
            </a:r>
            <a:endParaRPr lang="it-IT" sz="1400" dirty="0">
              <a:solidFill>
                <a:srgbClr val="2C3E50"/>
              </a:solidFill>
              <a:latin typeface="Calibri"/>
            </a:endParaRPr>
          </a:p>
          <a:p>
            <a:pPr marL="274320" indent="-274320">
              <a:spcAft>
                <a:spcPts val="1200"/>
              </a:spcAft>
            </a:pPr>
            <a:r>
              <a:rPr lang="it-IT" sz="1400" dirty="0">
                <a:solidFill>
                  <a:srgbClr val="16A085"/>
                </a:solidFill>
                <a:latin typeface="Calibri"/>
              </a:rPr>
              <a:t>▪  </a:t>
            </a:r>
            <a:r>
              <a:rPr lang="it-IT" sz="1400" i="1" dirty="0">
                <a:solidFill>
                  <a:srgbClr val="2C3E50"/>
                </a:solidFill>
                <a:latin typeface="Calibri"/>
              </a:rPr>
              <a:t>Spearman </a:t>
            </a:r>
            <a:r>
              <a:rPr lang="el-GR" sz="1400" i="1" dirty="0">
                <a:solidFill>
                  <a:srgbClr val="2C3E50"/>
                </a:solidFill>
                <a:latin typeface="Calibri"/>
              </a:rPr>
              <a:t>ρ</a:t>
            </a:r>
            <a:r>
              <a:rPr lang="el-GR" sz="1400" dirty="0">
                <a:solidFill>
                  <a:srgbClr val="2C3E50"/>
                </a:solidFill>
                <a:latin typeface="Calibri"/>
              </a:rPr>
              <a:t>: </a:t>
            </a:r>
            <a:r>
              <a:rPr lang="it-IT" sz="1400" i="1" dirty="0">
                <a:solidFill>
                  <a:srgbClr val="2C3E50"/>
                </a:solidFill>
                <a:latin typeface="Calibri"/>
              </a:rPr>
              <a:t>SA–SNR</a:t>
            </a:r>
            <a:r>
              <a:rPr lang="it-IT" sz="1400" dirty="0">
                <a:solidFill>
                  <a:srgbClr val="2C3E50"/>
                </a:solidFill>
                <a:latin typeface="Calibri"/>
              </a:rPr>
              <a:t> </a:t>
            </a:r>
            <a:r>
              <a:rPr lang="it-IT" sz="1400" b="1" dirty="0">
                <a:solidFill>
                  <a:srgbClr val="2C3E50"/>
                </a:solidFill>
                <a:latin typeface="Calibri"/>
              </a:rPr>
              <a:t>0.87</a:t>
            </a:r>
            <a:r>
              <a:rPr lang="it-IT" sz="1400" dirty="0">
                <a:solidFill>
                  <a:srgbClr val="2C3E50"/>
                </a:solidFill>
                <a:latin typeface="Calibri"/>
              </a:rPr>
              <a:t> (p&lt;0.001), </a:t>
            </a:r>
            <a:r>
              <a:rPr lang="it-IT" sz="1400" i="1" dirty="0">
                <a:solidFill>
                  <a:srgbClr val="2C3E50"/>
                </a:solidFill>
                <a:latin typeface="Calibri"/>
              </a:rPr>
              <a:t>SA–SIR</a:t>
            </a:r>
            <a:r>
              <a:rPr lang="it-IT" sz="1400" dirty="0">
                <a:solidFill>
                  <a:srgbClr val="2C3E50"/>
                </a:solidFill>
                <a:latin typeface="Calibri"/>
              </a:rPr>
              <a:t> </a:t>
            </a:r>
            <a:r>
              <a:rPr lang="it-IT" sz="1400" b="1" dirty="0">
                <a:solidFill>
                  <a:srgbClr val="2C3E50"/>
                </a:solidFill>
                <a:latin typeface="Calibri"/>
              </a:rPr>
              <a:t>0.50</a:t>
            </a:r>
            <a:r>
              <a:rPr lang="it-IT" sz="1400" dirty="0">
                <a:solidFill>
                  <a:srgbClr val="2C3E50"/>
                </a:solidFill>
                <a:latin typeface="Calibri"/>
              </a:rPr>
              <a:t> (p=0.012); </a:t>
            </a:r>
            <a:r>
              <a:rPr lang="it-IT" sz="1400" i="1" dirty="0">
                <a:solidFill>
                  <a:srgbClr val="2C3E50"/>
                </a:solidFill>
                <a:latin typeface="Calibri"/>
              </a:rPr>
              <a:t>ICA–SNR</a:t>
            </a:r>
            <a:r>
              <a:rPr lang="it-IT" sz="1400" dirty="0">
                <a:solidFill>
                  <a:srgbClr val="2C3E50"/>
                </a:solidFill>
                <a:latin typeface="Calibri"/>
              </a:rPr>
              <a:t> </a:t>
            </a:r>
            <a:r>
              <a:rPr lang="it-IT" sz="1400" b="1" dirty="0">
                <a:solidFill>
                  <a:srgbClr val="2C3E50"/>
                </a:solidFill>
                <a:latin typeface="Calibri"/>
              </a:rPr>
              <a:t>0.10</a:t>
            </a:r>
            <a:r>
              <a:rPr lang="it-IT" sz="1400" dirty="0">
                <a:solidFill>
                  <a:srgbClr val="2C3E50"/>
                </a:solidFill>
                <a:latin typeface="Calibri"/>
              </a:rPr>
              <a:t> (p=0.63), </a:t>
            </a:r>
            <a:r>
              <a:rPr lang="it-IT" sz="1400" i="1" dirty="0">
                <a:solidFill>
                  <a:srgbClr val="2C3E50"/>
                </a:solidFill>
                <a:latin typeface="Calibri"/>
              </a:rPr>
              <a:t>ICA–SIR</a:t>
            </a:r>
            <a:r>
              <a:rPr lang="it-IT" sz="1400" dirty="0">
                <a:solidFill>
                  <a:srgbClr val="2C3E50"/>
                </a:solidFill>
                <a:latin typeface="Calibri"/>
              </a:rPr>
              <a:t> </a:t>
            </a:r>
            <a:r>
              <a:rPr lang="it-IT" sz="1400" b="1" dirty="0">
                <a:solidFill>
                  <a:srgbClr val="2C3E50"/>
                </a:solidFill>
                <a:latin typeface="Calibri"/>
              </a:rPr>
              <a:t>0.18</a:t>
            </a:r>
            <a:r>
              <a:rPr lang="it-IT" sz="1400" dirty="0">
                <a:solidFill>
                  <a:srgbClr val="2C3E50"/>
                </a:solidFill>
                <a:latin typeface="Calibri"/>
              </a:rPr>
              <a:t> (p=0.40)</a:t>
            </a:r>
          </a:p>
        </p:txBody>
      </p:sp>
      <p:sp>
        <p:nvSpPr>
          <p:cNvPr id="6" name="Rectangle 5"/>
          <p:cNvSpPr/>
          <p:nvPr/>
        </p:nvSpPr>
        <p:spPr>
          <a:xfrm>
            <a:off x="5397763" y="1045594"/>
            <a:ext cx="6140970" cy="4940935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snr_sir_vs_reli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1463" y="1076376"/>
            <a:ext cx="5893570" cy="48793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567026" y="5971980"/>
            <a:ext cx="580244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 dirty="0">
                <a:solidFill>
                  <a:srgbClr val="5A6B78"/>
                </a:solidFill>
                <a:latin typeface="Calibri"/>
              </a:rPr>
              <a:t>Figure 11. signal quality drives reliability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1032690" y="3544197"/>
            <a:ext cx="3332384" cy="261540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reliability_correlat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1688" y="3571135"/>
            <a:ext cx="3294387" cy="25597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44652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A6B78"/>
                </a:solidFill>
                <a:latin typeface="Calibri"/>
              </a:rPr>
              <a:t>Robust Fetal ECG Detection -- Sequential Analysis vs. 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8692" y="6446520"/>
            <a:ext cx="30008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dirty="0">
                <a:solidFill>
                  <a:srgbClr val="5A6B78"/>
                </a:solidFill>
                <a:latin typeface="Calibri"/>
              </a:rPr>
              <a:t>1</a:t>
            </a:r>
            <a:r>
              <a:rPr lang="it-IT" sz="900" dirty="0">
                <a:solidFill>
                  <a:srgbClr val="5A6B78"/>
                </a:solidFill>
                <a:latin typeface="Calibri"/>
              </a:rPr>
              <a:t>7</a:t>
            </a:r>
            <a:endParaRPr sz="900" dirty="0">
              <a:solidFill>
                <a:srgbClr val="5A6B7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5737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8585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dirty="0">
                <a:solidFill>
                  <a:srgbClr val="2C3E50"/>
                </a:solidFill>
                <a:latin typeface="Calibri"/>
              </a:rPr>
              <a:t>Discussion</a:t>
            </a:r>
            <a:r>
              <a:rPr lang="it-IT" sz="2800" b="1" dirty="0">
                <a:solidFill>
                  <a:srgbClr val="2C3E50"/>
                </a:solidFill>
              </a:rPr>
              <a:t> &amp; </a:t>
            </a:r>
            <a:r>
              <a:rPr lang="it-IT" sz="2800" b="1" dirty="0" err="1">
                <a:solidFill>
                  <a:srgbClr val="2C3E50"/>
                </a:solidFill>
              </a:rPr>
              <a:t>Conclusions</a:t>
            </a:r>
            <a:endParaRPr sz="2800" b="1" dirty="0">
              <a:solidFill>
                <a:srgbClr val="2C3E50"/>
              </a:solidFill>
              <a:latin typeface="Calibri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502920" y="987552"/>
            <a:ext cx="1005840" cy="38100"/>
          </a:xfrm>
          <a:prstGeom prst="rect">
            <a:avLst/>
          </a:prstGeom>
          <a:solidFill>
            <a:srgbClr val="2C3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613392"/>
            <a:ext cx="11185855" cy="16312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lang="en-US" sz="2000" dirty="0">
                <a:solidFill>
                  <a:srgbClr val="16A085"/>
                </a:solidFill>
                <a:latin typeface="Calibri"/>
              </a:rPr>
              <a:t>▪  </a:t>
            </a:r>
            <a:r>
              <a:rPr lang="en-US" sz="2000" i="1" dirty="0">
                <a:solidFill>
                  <a:srgbClr val="2C3E50"/>
                </a:solidFill>
                <a:latin typeface="Calibri"/>
              </a:rPr>
              <a:t>SA </a:t>
            </a:r>
            <a:r>
              <a:rPr lang="en-US" sz="2000" dirty="0">
                <a:solidFill>
                  <a:srgbClr val="2C3E50"/>
                </a:solidFill>
                <a:latin typeface="Calibri"/>
              </a:rPr>
              <a:t>outperforms </a:t>
            </a:r>
            <a:r>
              <a:rPr lang="en-US" sz="2000" i="1" dirty="0">
                <a:solidFill>
                  <a:srgbClr val="2C3E50"/>
                </a:solidFill>
                <a:latin typeface="Calibri"/>
              </a:rPr>
              <a:t>ICA</a:t>
            </a:r>
            <a:r>
              <a:rPr lang="en-US" sz="2000" dirty="0">
                <a:solidFill>
                  <a:srgbClr val="2C3E50"/>
                </a:solidFill>
                <a:latin typeface="Calibri"/>
              </a:rPr>
              <a:t> by leveraging known signal structure </a:t>
            </a:r>
            <a:r>
              <a:rPr lang="en-US" sz="2000" dirty="0">
                <a:solidFill>
                  <a:srgbClr val="2C3E50"/>
                </a:solidFill>
                <a:latin typeface="Calibri"/>
                <a:sym typeface="Wingdings" panose="05000000000000000000" pitchFamily="2" charset="2"/>
              </a:rPr>
              <a:t>yielding better accuracy in low </a:t>
            </a:r>
            <a:r>
              <a:rPr lang="en-US" sz="2000" i="1" dirty="0">
                <a:solidFill>
                  <a:srgbClr val="2C3E50"/>
                </a:solidFill>
                <a:latin typeface="Calibri"/>
                <a:sym typeface="Wingdings" panose="05000000000000000000" pitchFamily="2" charset="2"/>
              </a:rPr>
              <a:t>SNR</a:t>
            </a:r>
            <a:r>
              <a:rPr lang="en-US" sz="2000" dirty="0">
                <a:solidFill>
                  <a:srgbClr val="2C3E50"/>
                </a:solidFill>
                <a:latin typeface="Calibri"/>
                <a:sym typeface="Wingdings" panose="05000000000000000000" pitchFamily="2" charset="2"/>
              </a:rPr>
              <a:t> conditions,</a:t>
            </a:r>
          </a:p>
          <a:p>
            <a:pPr marL="274320" indent="-274320">
              <a:spcAft>
                <a:spcPts val="1200"/>
              </a:spcAft>
            </a:pPr>
            <a:r>
              <a:rPr lang="en-US" sz="2000" dirty="0">
                <a:solidFill>
                  <a:srgbClr val="16A085"/>
                </a:solidFill>
              </a:rPr>
              <a:t>▪  </a:t>
            </a:r>
            <a:r>
              <a:rPr lang="en-US" sz="2000" dirty="0">
                <a:solidFill>
                  <a:srgbClr val="2C3E50"/>
                </a:solidFill>
              </a:rPr>
              <a:t>showing expected lower </a:t>
            </a:r>
            <a:r>
              <a:rPr lang="en-US" sz="2000" i="1" dirty="0">
                <a:solidFill>
                  <a:srgbClr val="2C3E50"/>
                </a:solidFill>
              </a:rPr>
              <a:t>recall</a:t>
            </a:r>
            <a:r>
              <a:rPr lang="en-US" sz="2000" dirty="0">
                <a:solidFill>
                  <a:srgbClr val="2C3E50"/>
                </a:solidFill>
              </a:rPr>
              <a:t> in specific records (a18, a09, a02, a11, a15) consistent with the paper’s gestational age hypothesis,</a:t>
            </a:r>
            <a:endParaRPr lang="en-US" sz="2000" dirty="0">
              <a:solidFill>
                <a:srgbClr val="2C3E50"/>
              </a:solidFill>
              <a:latin typeface="Calibri"/>
            </a:endParaRPr>
          </a:p>
          <a:p>
            <a:pPr marL="274320" indent="-274320">
              <a:spcAft>
                <a:spcPts val="1200"/>
              </a:spcAft>
            </a:pPr>
            <a:r>
              <a:rPr lang="en-US" sz="2000" dirty="0">
                <a:solidFill>
                  <a:srgbClr val="16A085"/>
                </a:solidFill>
              </a:rPr>
              <a:t>▪  </a:t>
            </a:r>
            <a:r>
              <a:rPr lang="en-US" sz="2000" dirty="0">
                <a:solidFill>
                  <a:srgbClr val="2C3E50"/>
                </a:solidFill>
              </a:rPr>
              <a:t>supporting the practical development of affordable and </a:t>
            </a:r>
            <a:r>
              <a:rPr lang="en-US" sz="2000" i="1" dirty="0">
                <a:solidFill>
                  <a:srgbClr val="2C3E50"/>
                </a:solidFill>
              </a:rPr>
              <a:t>non-invasive home-based</a:t>
            </a:r>
            <a:r>
              <a:rPr lang="en-US" sz="2000" dirty="0">
                <a:solidFill>
                  <a:srgbClr val="2C3E50"/>
                </a:solidFill>
              </a:rPr>
              <a:t> monitoring systems</a:t>
            </a:r>
            <a:endParaRPr lang="en-US" sz="2000" dirty="0">
              <a:solidFill>
                <a:srgbClr val="16A085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A6B78"/>
                </a:solidFill>
                <a:latin typeface="Calibri"/>
              </a:rPr>
              <a:t>Robust Fetal ECG Detection -- Sequential Analysis vs. 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A6B78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9144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02920" y="3012608"/>
            <a:ext cx="111858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dirty="0">
                <a:solidFill>
                  <a:srgbClr val="2C3E50"/>
                </a:solidFill>
                <a:latin typeface="Calibri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106372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i="1">
                <a:solidFill>
                  <a:srgbClr val="5A6B78"/>
                </a:solidFill>
                <a:latin typeface="Calibri"/>
              </a:rPr>
              <a:t>Robust Fetal ECG Detection -- Sequential Analysis vs. 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8692" y="6446520"/>
            <a:ext cx="300083" cy="2308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lang="it-IT" sz="900" dirty="0">
                <a:solidFill>
                  <a:srgbClr val="5A6B78"/>
                </a:solidFill>
                <a:latin typeface="Calibri"/>
              </a:rPr>
              <a:t>19</a:t>
            </a:r>
            <a:endParaRPr sz="900" dirty="0">
              <a:solidFill>
                <a:srgbClr val="5A6B78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</TotalTime>
  <Words>1323</Words>
  <Application>Microsoft Office PowerPoint</Application>
  <PresentationFormat>Widescreen</PresentationFormat>
  <Paragraphs>149</Paragraphs>
  <Slides>19</Slides>
  <Notes>19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Federico Cerutti</cp:lastModifiedBy>
  <cp:revision>35</cp:revision>
  <dcterms:created xsi:type="dcterms:W3CDTF">2013-01-27T09:14:16Z</dcterms:created>
  <dcterms:modified xsi:type="dcterms:W3CDTF">2026-09-07T17:41:42Z</dcterms:modified>
  <cp:category/>
</cp:coreProperties>
</file>