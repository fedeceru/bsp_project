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topic: detecting the fetal ECG from electrodes on the mother's abdomen, and reproducing/evaluating a well-known non-blind sequential-analysis method against a blind (ICA) baseline on a real, public dataset.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why this matters clinically: Doppler ultrasound is the current standard but only gives FHR; abdominal FECG could add morphological information non-invasively, and — unlike a scalp electrode — from early pregnancy through labour, and even for long-term ambulatory/home monitoring.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signal-processing problem: on an abdominal recording, the fetal signal is small and mixed with several much larger interferers, dominated by the mother's own ECG. Every stage of the pipeline exists to remove one of these specific interferers.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philosophically different approaches exist in the literature. ICA treats the problem as pure blind source separation. The paper instead proposes exploiting what we *already know* about each interference source — its periodicity, its expected morphology — to remove them one by one. The rest of the talk tests whether that pays 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stages left to right: remove baseline wander, remove power-line interference, increase the sampling rate for precision, detect and cancel the maternal ECG, then detect and extract the fetal ECG. Flag the one dataset-driven deviation from the paper up front: native sampling here is 1000 Hz, not 400 Hz, so the upsampling step goes 1000→2000 Hz instead of 400→2000 Hz.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wander filter is a direct, faithful implementation of the paper's design — if asked to justify the filter design itself, the backup transfer-function plot shows the expected flat 0 dB passband and a sharp roll-off right at the 3 Hz cutoff, with a clean linear phase confirming no distortion. Power-line cancellation uses a different adaptive mechanism (phase-locked-loop-style tracking with a mask that avoids distorting QRS complexes) but achieves the same goal. Point to the PSD panel on the right of the main image — the 50 Hz peak is clearly gone after processing.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QRS localisation follows the paper closely: combine channels via PCA to boost SNR, then find peaks by matched filtering. MECG removal also follows the paper's core idea — average and independently rescale the P, QRS and T segments to account for morphology changing over time — but this implementation regularises the least-squares fit (Ridge/Tikhonov) for stability, an addition not in the original paper. The image shows the large maternal complexes (S4) almost entirely gone after cancellation (S5).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MECG gone, the much smaller fetal QRS complexes are found the same way as the maternal ones were, but on the energy of the squared signal rather than the raw amplitude, then confirmed by matched filtering. Averaging many detected beats together — as the paper does — sharply improves the effective SNR of the extracted FECG template.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in one picture: S1 raw signal, S4 after baseline/power-line cleanup and upsampling, S5 after MECG cancellation, and S6 the final averaged fetal QRS morphology per channel. This is the strongest single "it works" visual in the deck — worth pausing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aggregate numbers, this shows detection quality directly on real data: red detected markers line up closely with the blue ground-truth annotations across all four channels. The bottom panel shows the resulting averaged fetal beat shape built from 124 correctly matched beats — a clean, physiologically plausible QRS morphology.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controlled, apples-to-apples comparison, the same preprocessed signals are also fed through FastICA, and the independent component that yields the most valid fetal heart-rate points is picked automatically as the "best" fetal source. This substitutes FastICA for the paper's JADE algorithm — both are blind source separation methods, so the comparison stays fair in spirit.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exactly the metrics computed in this codebase. Success and reliability follow the paper's definitions; SNR/SIR are derived per-channel from the pipeline's own intermediate signals; precision/recall/F1 come from directly matching detected peaks to the dataset's ground-truth fetal QRS annotations within a 50 ms window; MAE/RMSE instead compare the actual FHR *values* (bpm) of the two traces once interpolated onto a shared time grid — a complementary check on top of precision/recall/F1, since a method can match peak locations well but still drift on the derived heart rate, or vice versa. There's no separate classification-style "accuracy" metric here — precision/recall/F1 together with MAE/RMSE are more informative for a detection-plus-estimation task like this.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rate alone slightly favors ICA here (96% vs. 92% — it produces a passable trace on one more record than SA does). Reliability tells a different, more decisive story: on the records where each method *does* produce a trace, SA's is markedly more reliable on average (0.753 vs 0.684). The box plot shows why — ICA's median is actually comparable to SA's, but its distribution is bimodal: several records are detected almost perfectly, while others collapse to very low reliability (down to about 0.23), which is what pulls its mean down and its spread wide. SA sits more consistently in the mid-to-high range across records. This is the first hint that the full picture is more nuanced than any single metric — the ground-truth comparison on the next slide settles it more decisively.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decisive result: when checked against the dataset's actual annotated fetal QRS locations, the sequential analysis pipeline beats ICA on every axis — precision, recall, and F1 — by a wide margin (71.9% vs 56.2% F1). This is the clearest evidence supporting the paper's central claim, and it's why this metric (not the success-rate snapshot from the previous slide) is the headline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just matching QRS *locations*, this checks whether the resulting FHR *value* is actually close to the truth: both traces are interpolated onto a common time grid and compared point-by-point against the ground-truth FHR curve. Sequential analysis is noticeably more accurate on both error metrics, consistent with — and reinforcing — the precision/recall/F1 gap from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natural question about any single tolerance choice is whether it happens to favor one method. This sweep recomputes F1 across five tolerances from 10 to 100 ms for both methods — sequential analysis stays ahead of ICA at every single one, so the headline ±50 ms comparison on the earlier results slides isn't an artifact of that specific choice.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scatter grid plots per-record reliability against the estimated SNR and SIR of each recording, for both methods. The sequential analysis method (top row) holds up reasonably well even as SNR/SIR fall, and this is statistically real: its reliability correlates strongly and significantly with both SNR and SIR. ICA (bottom row) is far noisier and drops to very low reliability more often in the same low-SNR region — and its correlation with SNR/SIR, while positive, is weak and not statistically significant at this sample size. This is exactly the robustness gap the original paper reported, now backed by the correlation numbers rather than just the visual trend.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ICA's independence assumption is fragile in this setting — there are simply more real interference sources than the 4 available channels can cleanly separate. Sequential analysis avoids that by using explicit domain knowledge at each stage. That said, be candid about limitations: a few records have real data-quality issues (short signal gaps) and a few show much lower recall than the rest, a pattern the original paper also links to gestational-age-dependent FECG amplitude loss.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it home: reproducing this method on a real, independently annotated dataset confirms the paper's central claim — a non-blind, a priori-informed pipeline outperforms blind ICA, especially under the low-SNR conditions typical of real abdominal recordings. Close with the practical motivation (affordable, non-invasive monitoring) and a few concrete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32720" cy="1645920"/>
          </a:xfrm>
          <a:prstGeom prst="rect">
            <a:avLst/>
          </a:prstGeom>
          <a:noFill/>
        </p:spPr>
        <p:txBody>
          <a:bodyPr wrap="square">
            <a:spAutoFit/>
          </a:bodyPr>
          <a:lstStyle/>
          <a:p>
            <a:r>
              <a:rPr sz="4000" b="1">
                <a:solidFill>
                  <a:srgbClr val="2C3E50"/>
                </a:solidFill>
                <a:latin typeface="Calibri"/>
              </a:rPr>
              <a:t>A Robust Fetal ECG Detection Method for Abdominal Recordings</a:t>
            </a:r>
          </a:p>
        </p:txBody>
      </p:sp>
      <p:sp>
        <p:nvSpPr>
          <p:cNvPr id="5" name="Rectangle 4"/>
          <p:cNvSpPr/>
          <p:nvPr/>
        </p:nvSpPr>
        <p:spPr>
          <a:xfrm>
            <a:off x="960120" y="3408679"/>
            <a:ext cx="1463040" cy="50800"/>
          </a:xfrm>
          <a:prstGeom prst="rect">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591560"/>
            <a:ext cx="10332720" cy="640080"/>
          </a:xfrm>
          <a:prstGeom prst="rect">
            <a:avLst/>
          </a:prstGeom>
          <a:noFill/>
        </p:spPr>
        <p:txBody>
          <a:bodyPr wrap="square">
            <a:spAutoFit/>
          </a:bodyPr>
          <a:lstStyle/>
          <a:p>
            <a:r>
              <a:rPr sz="1900" i="1">
                <a:solidFill>
                  <a:srgbClr val="5A6B78"/>
                </a:solidFill>
                <a:latin typeface="Calibri"/>
              </a:rPr>
              <a:t>Reproducing and evaluating Martens et al. (2007) on the CinC 2013 dataset</a:t>
            </a:r>
          </a:p>
        </p:txBody>
      </p:sp>
      <p:sp>
        <p:nvSpPr>
          <p:cNvPr id="7" name="TextBox 6"/>
          <p:cNvSpPr txBox="1"/>
          <p:nvPr/>
        </p:nvSpPr>
        <p:spPr>
          <a:xfrm>
            <a:off x="914400" y="5623560"/>
            <a:ext cx="10332720" cy="914400"/>
          </a:xfrm>
          <a:prstGeom prst="rect">
            <a:avLst/>
          </a:prstGeom>
          <a:noFill/>
        </p:spPr>
        <p:txBody>
          <a:bodyPr wrap="square">
            <a:spAutoFit/>
          </a:bodyPr>
          <a:lstStyle/>
          <a:p>
            <a:r>
              <a:rPr sz="1500" b="1">
                <a:solidFill>
                  <a:srgbClr val="2C3E50"/>
                </a:solidFill>
                <a:latin typeface="Calibri"/>
              </a:rPr>
              <a:t>Federico Cerutti - 85644A</a:t>
            </a:r>
          </a:p>
          <a:p>
            <a:r>
              <a:rPr sz="1300">
                <a:solidFill>
                  <a:srgbClr val="5A6B78"/>
                </a:solidFill>
                <a:latin typeface="Calibri"/>
              </a:rPr>
              <a:t>Biomedical Signal Processing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Clinical motivation</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843276"/>
            <a:ext cx="11185855" cy="3493515"/>
          </a:xfrm>
          <a:prstGeom prst="rect">
            <a:avLst/>
          </a:prstGeom>
          <a:noFill/>
        </p:spPr>
        <p:txBody>
          <a:bodyPr wrap="square" anchor="t">
            <a:spAutoFit/>
          </a:bodyPr>
          <a:lstStyle/>
          <a:p>
            <a:pPr marL="274320" indent="-274320">
              <a:spcAft>
                <a:spcPts val="1200"/>
              </a:spcAft>
            </a:pPr>
            <a:r>
              <a:rPr sz="2000">
                <a:solidFill>
                  <a:srgbClr val="16A085"/>
                </a:solidFill>
                <a:latin typeface="Calibri"/>
              </a:rPr>
              <a:t>▪  </a:t>
            </a:r>
            <a:r>
              <a:rPr sz="2000">
                <a:solidFill>
                  <a:srgbClr val="2C3E50"/>
                </a:solidFill>
                <a:latin typeface="Calibri"/>
              </a:rPr>
              <a:t>Fetal cardiac activity → key indicator of fetal well‑being</a:t>
            </a:r>
          </a:p>
          <a:p>
            <a:pPr marL="274320" indent="-274320">
              <a:spcAft>
                <a:spcPts val="1200"/>
              </a:spcAft>
            </a:pPr>
            <a:r>
              <a:rPr sz="2000">
                <a:solidFill>
                  <a:srgbClr val="16A085"/>
                </a:solidFill>
                <a:latin typeface="Calibri"/>
              </a:rPr>
              <a:t>▪  </a:t>
            </a:r>
            <a:r>
              <a:rPr sz="2000">
                <a:solidFill>
                  <a:srgbClr val="2C3E50"/>
                </a:solidFill>
                <a:latin typeface="Calibri"/>
              </a:rPr>
              <a:t>Doppler ultrasound: routine, but gives </a:t>
            </a:r>
            <a:r>
              <a:rPr i="1" sz="2000">
                <a:solidFill>
                  <a:srgbClr val="2C3E50"/>
                </a:solidFill>
                <a:latin typeface="Calibri"/>
              </a:rPr>
              <a:t>only</a:t>
            </a:r>
            <a:r>
              <a:rPr sz="2000">
                <a:solidFill>
                  <a:srgbClr val="2C3E50"/>
                </a:solidFill>
                <a:latin typeface="Calibri"/>
              </a:rPr>
              <a:t> heart rate (FHR), not morphology</a:t>
            </a:r>
          </a:p>
          <a:p>
            <a:pPr marL="274320" indent="-274320">
              <a:spcAft>
                <a:spcPts val="1200"/>
              </a:spcAft>
            </a:pPr>
            <a:r>
              <a:rPr sz="2000">
                <a:solidFill>
                  <a:srgbClr val="16A085"/>
                </a:solidFill>
                <a:latin typeface="Calibri"/>
              </a:rPr>
              <a:t>▪  </a:t>
            </a:r>
            <a:r>
              <a:rPr sz="2000">
                <a:solidFill>
                  <a:srgbClr val="2C3E50"/>
                </a:solidFill>
                <a:latin typeface="Calibri"/>
              </a:rPr>
              <a:t>Fetal ECG (FECG) also carries PR/QRS/ST morphology → linked to fetal oxygenation</a:t>
            </a:r>
          </a:p>
          <a:p>
            <a:pPr marL="274320" indent="-274320">
              <a:spcAft>
                <a:spcPts val="1200"/>
              </a:spcAft>
            </a:pPr>
            <a:r>
              <a:rPr sz="2000">
                <a:solidFill>
                  <a:srgbClr val="16A085"/>
                </a:solidFill>
                <a:latin typeface="Calibri"/>
              </a:rPr>
              <a:t>▪  </a:t>
            </a:r>
            <a:r>
              <a:rPr sz="2000">
                <a:solidFill>
                  <a:srgbClr val="2C3E50"/>
                </a:solidFill>
                <a:latin typeface="Calibri"/>
              </a:rPr>
              <a:t>Abdominal FECG = non‑invasive, usable throughout pregnancy </a:t>
            </a:r>
            <a:r>
              <a:rPr i="1" sz="2000">
                <a:solidFill>
                  <a:srgbClr val="2C3E50"/>
                </a:solidFill>
                <a:latin typeface="Calibri"/>
              </a:rPr>
              <a:t>and</a:t>
            </a:r>
            <a:r>
              <a:rPr sz="2000">
                <a:solidFill>
                  <a:srgbClr val="2C3E50"/>
                </a:solidFill>
                <a:latin typeface="Calibri"/>
              </a:rPr>
              <a:t> labour (vs. invasive scalp electrode, labour‑only)</a:t>
            </a:r>
          </a:p>
        </p:txBody>
      </p:sp>
      <p:sp>
        <p:nvSpPr>
          <p:cNvPr id="6" name="TextBox 5"/>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7" name="TextBox 6"/>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The core challenge</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98216"/>
            <a:ext cx="11185855" cy="3338575"/>
          </a:xfrm>
          <a:prstGeom prst="rect">
            <a:avLst/>
          </a:prstGeom>
          <a:noFill/>
        </p:spPr>
        <p:txBody>
          <a:bodyPr wrap="square" anchor="t">
            <a:spAutoFit/>
          </a:bodyPr>
          <a:lstStyle/>
          <a:p>
            <a:pPr marL="274320" indent="-274320">
              <a:spcAft>
                <a:spcPts val="1200"/>
              </a:spcAft>
            </a:pPr>
            <a:r>
              <a:rPr sz="2000">
                <a:solidFill>
                  <a:srgbClr val="16A085"/>
                </a:solidFill>
                <a:latin typeface="Calibri"/>
              </a:rPr>
              <a:t>▪  </a:t>
            </a:r>
            <a:r>
              <a:rPr sz="2000">
                <a:solidFill>
                  <a:srgbClr val="2C3E50"/>
                </a:solidFill>
                <a:latin typeface="Calibri"/>
              </a:rPr>
              <a:t>FECG amplitude: tiny (tens of µV)</a:t>
            </a:r>
          </a:p>
          <a:p>
            <a:pPr marL="274320" indent="-274320">
              <a:spcAft>
                <a:spcPts val="1200"/>
              </a:spcAft>
            </a:pPr>
            <a:r>
              <a:rPr sz="2000">
                <a:solidFill>
                  <a:srgbClr val="16A085"/>
                </a:solidFill>
                <a:latin typeface="Calibri"/>
              </a:rPr>
              <a:t>▪  </a:t>
            </a:r>
            <a:r>
              <a:rPr sz="2000">
                <a:solidFill>
                  <a:srgbClr val="2C3E50"/>
                </a:solidFill>
                <a:latin typeface="Calibri"/>
              </a:rPr>
              <a:t>Buried under: baseline wander, power‑line interference, EMG/motion artifacts</a:t>
            </a:r>
          </a:p>
          <a:p>
            <a:pPr marL="274320" indent="-274320">
              <a:spcAft>
                <a:spcPts val="1200"/>
              </a:spcAft>
            </a:pPr>
            <a:r>
              <a:rPr sz="2000">
                <a:solidFill>
                  <a:srgbClr val="16A085"/>
                </a:solidFill>
                <a:latin typeface="Calibri"/>
              </a:rPr>
              <a:t>▪  </a:t>
            </a:r>
            <a:r>
              <a:rPr sz="2000">
                <a:solidFill>
                  <a:srgbClr val="2C3E50"/>
                </a:solidFill>
                <a:latin typeface="Calibri"/>
              </a:rPr>
              <a:t>Above all: the </a:t>
            </a:r>
            <a:r>
              <a:rPr b="1" sz="2000">
                <a:solidFill>
                  <a:srgbClr val="2C3E50"/>
                </a:solidFill>
                <a:latin typeface="Calibri"/>
              </a:rPr>
              <a:t>mother's ECG (MECG)</a:t>
            </a:r>
            <a:r>
              <a:rPr sz="2000">
                <a:solidFill>
                  <a:srgbClr val="2C3E50"/>
                </a:solidFill>
                <a:latin typeface="Calibri"/>
              </a:rPr>
              <a:t> — an order of magnitude larger, same electrodes</a:t>
            </a:r>
          </a:p>
          <a:p>
            <a:pPr marL="274320" indent="-274320">
              <a:spcAft>
                <a:spcPts val="1200"/>
              </a:spcAft>
            </a:pPr>
            <a:r>
              <a:rPr sz="2000">
                <a:solidFill>
                  <a:srgbClr val="16A085"/>
                </a:solidFill>
                <a:latin typeface="Calibri"/>
              </a:rPr>
              <a:t>▪  </a:t>
            </a:r>
            <a:r>
              <a:rPr sz="2000">
                <a:solidFill>
                  <a:srgbClr val="2C3E50"/>
                </a:solidFill>
                <a:latin typeface="Calibri"/>
              </a:rPr>
              <a:t>Goal: strip away everything that isn't the fetal heartbeat</a:t>
            </a:r>
          </a:p>
        </p:txBody>
      </p:sp>
      <p:sp>
        <p:nvSpPr>
          <p:cNvPr id="6" name="TextBox 5"/>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7" name="TextBox 6"/>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Two paradigms</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071116"/>
            <a:ext cx="4480560" cy="548640"/>
          </a:xfrm>
          <a:prstGeom prst="roundRect">
            <a:avLst>
              <a:gd name="adj" fmla="val 8000"/>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Blind (ICA / BSS)</a:t>
            </a:r>
          </a:p>
        </p:txBody>
      </p:sp>
      <p:sp>
        <p:nvSpPr>
          <p:cNvPr id="6" name="Rounded Rectangle 5"/>
          <p:cNvSpPr/>
          <p:nvPr/>
        </p:nvSpPr>
        <p:spPr>
          <a:xfrm>
            <a:off x="7208215" y="2071116"/>
            <a:ext cx="4480560" cy="548640"/>
          </a:xfrm>
          <a:prstGeom prst="roundRect">
            <a:avLst>
              <a:gd name="adj" fmla="val 8000"/>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Calibri"/>
              </a:rPr>
              <a:t>Non‑blind (Sequential Analysis)</a:t>
            </a:r>
          </a:p>
        </p:txBody>
      </p:sp>
      <p:sp>
        <p:nvSpPr>
          <p:cNvPr id="7" name="TextBox 6"/>
          <p:cNvSpPr txBox="1"/>
          <p:nvPr/>
        </p:nvSpPr>
        <p:spPr>
          <a:xfrm>
            <a:off x="731520" y="2848356"/>
            <a:ext cx="4023360" cy="1920240"/>
          </a:xfrm>
          <a:prstGeom prst="rect">
            <a:avLst/>
          </a:prstGeom>
          <a:noFill/>
        </p:spPr>
        <p:txBody>
          <a:bodyPr wrap="square">
            <a:spAutoFit/>
          </a:bodyPr>
          <a:lstStyle/>
          <a:p>
            <a:pPr marL="201168" indent="-201168">
              <a:spcAft>
                <a:spcPts val="1000"/>
              </a:spcAft>
            </a:pPr>
            <a:r>
              <a:rPr sz="1500">
                <a:solidFill>
                  <a:srgbClr val="2C3E50"/>
                </a:solidFill>
                <a:latin typeface="Calibri"/>
              </a:rPr>
              <a:t>▪  No prior knowledge assumed</a:t>
            </a:r>
          </a:p>
          <a:p>
            <a:pPr marL="201168" indent="-201168">
              <a:spcAft>
                <a:spcPts val="1000"/>
              </a:spcAft>
            </a:pPr>
            <a:r>
              <a:rPr sz="1500">
                <a:solidFill>
                  <a:srgbClr val="2C3E50"/>
                </a:solidFill>
                <a:latin typeface="Calibri"/>
              </a:rPr>
              <a:t>▪  Relies purely on statistical independence of sources</a:t>
            </a:r>
          </a:p>
          <a:p>
            <a:pPr marL="201168" indent="-201168">
              <a:spcAft>
                <a:spcPts val="1000"/>
              </a:spcAft>
            </a:pPr>
            <a:r>
              <a:rPr sz="1500">
                <a:solidFill>
                  <a:srgbClr val="2C3E50"/>
                </a:solidFill>
                <a:latin typeface="Calibri"/>
              </a:rPr>
              <a:t>▪  As many independent sources as channels required</a:t>
            </a:r>
          </a:p>
        </p:txBody>
      </p:sp>
      <p:sp>
        <p:nvSpPr>
          <p:cNvPr id="8" name="TextBox 7"/>
          <p:cNvSpPr txBox="1"/>
          <p:nvPr/>
        </p:nvSpPr>
        <p:spPr>
          <a:xfrm>
            <a:off x="7436815" y="2848356"/>
            <a:ext cx="4023360" cy="1920240"/>
          </a:xfrm>
          <a:prstGeom prst="rect">
            <a:avLst/>
          </a:prstGeom>
          <a:noFill/>
        </p:spPr>
        <p:txBody>
          <a:bodyPr wrap="square">
            <a:spAutoFit/>
          </a:bodyPr>
          <a:lstStyle/>
          <a:p>
            <a:pPr marL="201168" indent="-201168">
              <a:spcAft>
                <a:spcPts val="1000"/>
              </a:spcAft>
            </a:pPr>
            <a:r>
              <a:rPr sz="1500">
                <a:solidFill>
                  <a:srgbClr val="2C3E50"/>
                </a:solidFill>
                <a:latin typeface="Calibri"/>
              </a:rPr>
              <a:t>▪  Exploits a priori knowledge of each interferer</a:t>
            </a:r>
          </a:p>
          <a:p>
            <a:pPr marL="201168" indent="-201168">
              <a:spcAft>
                <a:spcPts val="1000"/>
              </a:spcAft>
            </a:pPr>
            <a:r>
              <a:rPr sz="1500">
                <a:solidFill>
                  <a:srgbClr val="2C3E50"/>
                </a:solidFill>
                <a:latin typeface="Calibri"/>
              </a:rPr>
              <a:t>▪  Uses periodicity, morphology, frequency content</a:t>
            </a:r>
          </a:p>
          <a:p>
            <a:pPr marL="201168" indent="-201168">
              <a:spcAft>
                <a:spcPts val="1000"/>
              </a:spcAft>
            </a:pPr>
            <a:r>
              <a:rPr sz="1500">
                <a:solidFill>
                  <a:srgbClr val="2C3E50"/>
                </a:solidFill>
                <a:latin typeface="Calibri"/>
              </a:rPr>
              <a:t>▪  Paper's thesis: more robust, especially at low SNR</a:t>
            </a:r>
          </a:p>
        </p:txBody>
      </p:sp>
      <p:sp>
        <p:nvSpPr>
          <p:cNvPr id="9" name="Rounded Rectangle 8"/>
          <p:cNvSpPr/>
          <p:nvPr/>
        </p:nvSpPr>
        <p:spPr>
          <a:xfrm>
            <a:off x="502920" y="2071116"/>
            <a:ext cx="4480560" cy="2743200"/>
          </a:xfrm>
          <a:prstGeom prst="roundRect">
            <a:avLst>
              <a:gd name="adj" fmla="val 4000"/>
            </a:avLst>
          </a:prstGeom>
          <a:noFill/>
          <a:ln w="19050">
            <a:solidFill>
              <a:srgbClr val="16A0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08215" y="2071116"/>
            <a:ext cx="4480560" cy="2743200"/>
          </a:xfrm>
          <a:prstGeom prst="roundRect">
            <a:avLst>
              <a:gd name="adj" fmla="val 4000"/>
            </a:avLst>
          </a:prstGeom>
          <a:noFill/>
          <a:ln w="19050">
            <a:solidFill>
              <a:srgbClr val="2C3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30087" y="3168396"/>
            <a:ext cx="731520" cy="548640"/>
          </a:xfrm>
          <a:prstGeom prst="rect">
            <a:avLst/>
          </a:prstGeom>
          <a:noFill/>
        </p:spPr>
        <p:txBody>
          <a:bodyPr wrap="none">
            <a:spAutoFit/>
          </a:bodyPr>
          <a:lstStyle/>
          <a:p>
            <a:pPr algn="ctr"/>
            <a:r>
              <a:rPr sz="1800" i="1" b="1">
                <a:solidFill>
                  <a:srgbClr val="5A6B78"/>
                </a:solidFill>
                <a:latin typeface="Calibri"/>
              </a:rPr>
              <a:t>vs.</a:t>
            </a:r>
          </a:p>
        </p:txBody>
      </p:sp>
      <p:sp>
        <p:nvSpPr>
          <p:cNvPr id="12" name="TextBox 11"/>
          <p:cNvSpPr txBox="1"/>
          <p:nvPr/>
        </p:nvSpPr>
        <p:spPr>
          <a:xfrm>
            <a:off x="502920" y="5134356"/>
            <a:ext cx="11185855" cy="822960"/>
          </a:xfrm>
          <a:prstGeom prst="rect">
            <a:avLst/>
          </a:prstGeom>
          <a:noFill/>
        </p:spPr>
        <p:txBody>
          <a:bodyPr wrap="square">
            <a:spAutoFit/>
          </a:bodyPr>
          <a:lstStyle/>
          <a:p>
            <a:pPr algn="ctr"/>
            <a:r>
              <a:rPr sz="1700">
                <a:solidFill>
                  <a:srgbClr val="E74C3C"/>
                </a:solidFill>
                <a:latin typeface="Calibri"/>
              </a:rPr>
              <a:t>→ This is what we test on real data in this presentation</a:t>
            </a:r>
          </a:p>
        </p:txBody>
      </p:sp>
      <p:sp>
        <p:nvSpPr>
          <p:cNvPr id="13" name="TextBox 12"/>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4" name="TextBox 13"/>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02920" y="3108960"/>
            <a:ext cx="11505895" cy="0"/>
          </a:xfrm>
          <a:prstGeom prst="line">
            <a:avLst/>
          </a:prstGeom>
          <a:ln w="19050">
            <a:solidFill>
              <a:srgbClr val="DDE1E5"/>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Pipeline overview</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880360"/>
            <a:ext cx="594360" cy="457200"/>
          </a:xfrm>
          <a:prstGeom prst="roundRect">
            <a:avLst>
              <a:gd name="adj" fmla="val 50000"/>
            </a:avLst>
          </a:prstGeom>
          <a:solidFill>
            <a:srgbClr val="FFFFFF"/>
          </a:solidFill>
          <a:ln w="19050">
            <a:solidFill>
              <a:srgbClr val="2C3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C3E50"/>
                </a:solidFill>
                <a:latin typeface="Calibri"/>
              </a:rPr>
              <a:t>S1</a:t>
            </a:r>
          </a:p>
        </p:txBody>
      </p:sp>
      <p:sp>
        <p:nvSpPr>
          <p:cNvPr id="6" name="Rounded Rectangle 5"/>
          <p:cNvSpPr/>
          <p:nvPr/>
        </p:nvSpPr>
        <p:spPr>
          <a:xfrm>
            <a:off x="1013429" y="2788920"/>
            <a:ext cx="1691640" cy="640080"/>
          </a:xfrm>
          <a:prstGeom prst="roundRect">
            <a:avLst>
              <a:gd name="adj" fmla="val 8000"/>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Baseline Wander
Remover</a:t>
            </a:r>
          </a:p>
        </p:txBody>
      </p:sp>
      <p:sp>
        <p:nvSpPr>
          <p:cNvPr id="7" name="Rounded Rectangle 6"/>
          <p:cNvSpPr/>
          <p:nvPr/>
        </p:nvSpPr>
        <p:spPr>
          <a:xfrm>
            <a:off x="2621219" y="2880360"/>
            <a:ext cx="594360" cy="457200"/>
          </a:xfrm>
          <a:prstGeom prst="roundRect">
            <a:avLst>
              <a:gd name="adj" fmla="val 50000"/>
            </a:avLst>
          </a:prstGeom>
          <a:solidFill>
            <a:srgbClr val="FFFFFF"/>
          </a:solidFill>
          <a:ln w="19050">
            <a:solidFill>
              <a:srgbClr val="2C3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C3E50"/>
                </a:solidFill>
                <a:latin typeface="Calibri"/>
              </a:rPr>
              <a:t>S2</a:t>
            </a:r>
          </a:p>
        </p:txBody>
      </p:sp>
      <p:sp>
        <p:nvSpPr>
          <p:cNvPr id="8" name="Rounded Rectangle 7"/>
          <p:cNvSpPr/>
          <p:nvPr/>
        </p:nvSpPr>
        <p:spPr>
          <a:xfrm>
            <a:off x="3131728" y="2788920"/>
            <a:ext cx="1691640" cy="640080"/>
          </a:xfrm>
          <a:prstGeom prst="roundRect">
            <a:avLst>
              <a:gd name="adj" fmla="val 8000"/>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PLI
Canceller</a:t>
            </a:r>
          </a:p>
        </p:txBody>
      </p:sp>
      <p:sp>
        <p:nvSpPr>
          <p:cNvPr id="9" name="Rounded Rectangle 8"/>
          <p:cNvSpPr/>
          <p:nvPr/>
        </p:nvSpPr>
        <p:spPr>
          <a:xfrm>
            <a:off x="4739518" y="2880360"/>
            <a:ext cx="594360" cy="457200"/>
          </a:xfrm>
          <a:prstGeom prst="roundRect">
            <a:avLst>
              <a:gd name="adj" fmla="val 50000"/>
            </a:avLst>
          </a:prstGeom>
          <a:solidFill>
            <a:srgbClr val="FFFFFF"/>
          </a:solidFill>
          <a:ln w="19050">
            <a:solidFill>
              <a:srgbClr val="2C3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C3E50"/>
                </a:solidFill>
                <a:latin typeface="Calibri"/>
              </a:rPr>
              <a:t>S3</a:t>
            </a:r>
          </a:p>
        </p:txBody>
      </p:sp>
      <p:sp>
        <p:nvSpPr>
          <p:cNvPr id="10" name="Rounded Rectangle 9"/>
          <p:cNvSpPr/>
          <p:nvPr/>
        </p:nvSpPr>
        <p:spPr>
          <a:xfrm>
            <a:off x="5250027" y="2788920"/>
            <a:ext cx="1691640" cy="640080"/>
          </a:xfrm>
          <a:prstGeom prst="roundRect">
            <a:avLst>
              <a:gd name="adj" fmla="val 8000"/>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Sampling‑Rate
Increaser</a:t>
            </a:r>
          </a:p>
        </p:txBody>
      </p:sp>
      <p:sp>
        <p:nvSpPr>
          <p:cNvPr id="11" name="Rounded Rectangle 10"/>
          <p:cNvSpPr/>
          <p:nvPr/>
        </p:nvSpPr>
        <p:spPr>
          <a:xfrm>
            <a:off x="6857817" y="2880360"/>
            <a:ext cx="594360" cy="457200"/>
          </a:xfrm>
          <a:prstGeom prst="roundRect">
            <a:avLst>
              <a:gd name="adj" fmla="val 50000"/>
            </a:avLst>
          </a:prstGeom>
          <a:solidFill>
            <a:srgbClr val="FFFFFF"/>
          </a:solidFill>
          <a:ln w="19050">
            <a:solidFill>
              <a:srgbClr val="2C3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C3E50"/>
                </a:solidFill>
                <a:latin typeface="Calibri"/>
              </a:rPr>
              <a:t>S4</a:t>
            </a:r>
          </a:p>
        </p:txBody>
      </p:sp>
      <p:sp>
        <p:nvSpPr>
          <p:cNvPr id="12" name="TextBox 11"/>
          <p:cNvSpPr txBox="1"/>
          <p:nvPr/>
        </p:nvSpPr>
        <p:spPr>
          <a:xfrm>
            <a:off x="7094006" y="2404872"/>
            <a:ext cx="2240280" cy="320040"/>
          </a:xfrm>
          <a:prstGeom prst="rect">
            <a:avLst/>
          </a:prstGeom>
          <a:noFill/>
        </p:spPr>
        <p:txBody>
          <a:bodyPr wrap="none">
            <a:spAutoFit/>
          </a:bodyPr>
          <a:lstStyle/>
          <a:p>
            <a:pPr algn="ctr"/>
            <a:r>
              <a:rPr sz="1000" i="1">
                <a:solidFill>
                  <a:srgbClr val="5A6B78"/>
                </a:solidFill>
                <a:latin typeface="Calibri"/>
              </a:rPr>
              <a:t>[Maternal QRS Detector]</a:t>
            </a:r>
          </a:p>
        </p:txBody>
      </p:sp>
      <p:sp>
        <p:nvSpPr>
          <p:cNvPr id="13" name="Rounded Rectangle 12"/>
          <p:cNvSpPr/>
          <p:nvPr/>
        </p:nvSpPr>
        <p:spPr>
          <a:xfrm>
            <a:off x="7368326" y="2788920"/>
            <a:ext cx="1691640" cy="640080"/>
          </a:xfrm>
          <a:prstGeom prst="roundRect">
            <a:avLst>
              <a:gd name="adj" fmla="val 8000"/>
            </a:avLst>
          </a:prstGeom>
          <a:solidFill>
            <a:srgbClr val="16A0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MECG
Canceller</a:t>
            </a:r>
          </a:p>
        </p:txBody>
      </p:sp>
      <p:sp>
        <p:nvSpPr>
          <p:cNvPr id="14" name="Rounded Rectangle 13"/>
          <p:cNvSpPr/>
          <p:nvPr/>
        </p:nvSpPr>
        <p:spPr>
          <a:xfrm>
            <a:off x="8976116" y="2880360"/>
            <a:ext cx="594360" cy="457200"/>
          </a:xfrm>
          <a:prstGeom prst="roundRect">
            <a:avLst>
              <a:gd name="adj" fmla="val 50000"/>
            </a:avLst>
          </a:prstGeom>
          <a:solidFill>
            <a:srgbClr val="FFFFFF"/>
          </a:solidFill>
          <a:ln w="19050">
            <a:solidFill>
              <a:srgbClr val="2C3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C3E50"/>
                </a:solidFill>
                <a:latin typeface="Calibri"/>
              </a:rPr>
              <a:t>S5</a:t>
            </a:r>
          </a:p>
        </p:txBody>
      </p:sp>
      <p:sp>
        <p:nvSpPr>
          <p:cNvPr id="15" name="TextBox 14"/>
          <p:cNvSpPr txBox="1"/>
          <p:nvPr/>
        </p:nvSpPr>
        <p:spPr>
          <a:xfrm>
            <a:off x="9212305" y="2404872"/>
            <a:ext cx="2240280" cy="320040"/>
          </a:xfrm>
          <a:prstGeom prst="rect">
            <a:avLst/>
          </a:prstGeom>
          <a:noFill/>
        </p:spPr>
        <p:txBody>
          <a:bodyPr wrap="none">
            <a:spAutoFit/>
          </a:bodyPr>
          <a:lstStyle/>
          <a:p>
            <a:pPr algn="ctr"/>
            <a:r>
              <a:rPr sz="1000" i="1">
                <a:solidFill>
                  <a:srgbClr val="5A6B78"/>
                </a:solidFill>
                <a:latin typeface="Calibri"/>
              </a:rPr>
              <a:t>[Fetal QRS Detector]</a:t>
            </a:r>
          </a:p>
        </p:txBody>
      </p:sp>
      <p:sp>
        <p:nvSpPr>
          <p:cNvPr id="16" name="Rounded Rectangle 15"/>
          <p:cNvSpPr/>
          <p:nvPr/>
        </p:nvSpPr>
        <p:spPr>
          <a:xfrm>
            <a:off x="9486625" y="2788920"/>
            <a:ext cx="1691640" cy="640080"/>
          </a:xfrm>
          <a:prstGeom prst="roundRect">
            <a:avLst>
              <a:gd name="adj" fmla="val 8000"/>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FECG
Extractor</a:t>
            </a:r>
          </a:p>
        </p:txBody>
      </p:sp>
      <p:sp>
        <p:nvSpPr>
          <p:cNvPr id="17" name="Rounded Rectangle 16"/>
          <p:cNvSpPr/>
          <p:nvPr/>
        </p:nvSpPr>
        <p:spPr>
          <a:xfrm>
            <a:off x="10934395" y="2880360"/>
            <a:ext cx="914400" cy="457200"/>
          </a:xfrm>
          <a:prstGeom prst="roundRect">
            <a:avLst>
              <a:gd name="adj" fmla="val 50000"/>
            </a:avLst>
          </a:prstGeom>
          <a:solidFill>
            <a:srgbClr val="FFFFFF"/>
          </a:solidFill>
          <a:ln w="19050">
            <a:solidFill>
              <a:srgbClr val="E74C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E74C3C"/>
                </a:solidFill>
                <a:latin typeface="Calibri"/>
              </a:rPr>
              <a:t>S6
+FHR</a:t>
            </a:r>
          </a:p>
        </p:txBody>
      </p:sp>
      <p:sp>
        <p:nvSpPr>
          <p:cNvPr id="19" name="TextBox 18"/>
          <p:cNvSpPr txBox="1"/>
          <p:nvPr/>
        </p:nvSpPr>
        <p:spPr>
          <a:xfrm>
            <a:off x="502920" y="3977639"/>
            <a:ext cx="11185855" cy="548640"/>
          </a:xfrm>
          <a:prstGeom prst="rect">
            <a:avLst/>
          </a:prstGeom>
          <a:noFill/>
        </p:spPr>
        <p:txBody>
          <a:bodyPr wrap="square">
            <a:spAutoFit/>
          </a:bodyPr>
          <a:lstStyle/>
          <a:p>
            <a:pPr algn="ctr"/>
            <a:r>
              <a:rPr sz="1600">
                <a:solidFill>
                  <a:srgbClr val="2C3E50"/>
                </a:solidFill>
                <a:latin typeface="Calibri"/>
              </a:rPr>
              <a:t>Note: this dataset is natively </a:t>
            </a:r>
            <a:r>
              <a:rPr b="1" sz="1600">
                <a:solidFill>
                  <a:srgbClr val="2C3E50"/>
                </a:solidFill>
                <a:latin typeface="Calibri"/>
              </a:rPr>
              <a:t>1000 Hz</a:t>
            </a:r>
            <a:r>
              <a:rPr sz="1600">
                <a:solidFill>
                  <a:srgbClr val="2C3E50"/>
                </a:solidFill>
                <a:latin typeface="Calibri"/>
              </a:rPr>
              <a:t> (paper: 400 Hz) → upsampled to 2000 Hz for MECG cancellation precision</a:t>
            </a:r>
          </a:p>
        </p:txBody>
      </p:sp>
      <p:sp>
        <p:nvSpPr>
          <p:cNvPr id="20" name="TextBox 19"/>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21" name="TextBox 20"/>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Stage 1–2 in practice: baseline wander + power‑line interference</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4250624" cy="5102352"/>
          </a:xfrm>
          <a:prstGeom prst="rect">
            <a:avLst/>
          </a:prstGeom>
          <a:noFill/>
        </p:spPr>
        <p:txBody>
          <a:bodyPr wrap="square" anchor="ctr">
            <a:spAutoFit/>
          </a:bodyPr>
          <a:lstStyle/>
          <a:p>
            <a:pPr marL="274320" indent="-274320">
              <a:spcAft>
                <a:spcPts val="1200"/>
              </a:spcAft>
            </a:pPr>
            <a:r>
              <a:rPr sz="1700">
                <a:solidFill>
                  <a:srgbClr val="16A085"/>
                </a:solidFill>
                <a:latin typeface="Calibri"/>
              </a:rPr>
              <a:t>▪  </a:t>
            </a:r>
            <a:r>
              <a:rPr sz="1700">
                <a:solidFill>
                  <a:srgbClr val="2C3E50"/>
                </a:solidFill>
                <a:latin typeface="Calibri"/>
              </a:rPr>
              <a:t>Baseline wander: linear‑phase FIR high‑pass, 3 Hz cutoff, Hamming window — </a:t>
            </a:r>
            <a:r>
              <a:rPr b="1" sz="1700">
                <a:solidFill>
                  <a:srgbClr val="2C3E50"/>
                </a:solidFill>
                <a:latin typeface="Calibri"/>
              </a:rPr>
              <a:t>matches the paper exactly</a:t>
            </a:r>
          </a:p>
          <a:p>
            <a:pPr marL="274320" indent="-274320">
              <a:spcAft>
                <a:spcPts val="1200"/>
              </a:spcAft>
            </a:pPr>
            <a:r>
              <a:rPr sz="1700">
                <a:solidFill>
                  <a:srgbClr val="16A085"/>
                </a:solidFill>
                <a:latin typeface="Calibri"/>
              </a:rPr>
              <a:t>▪  </a:t>
            </a:r>
            <a:r>
              <a:rPr sz="1700">
                <a:solidFill>
                  <a:srgbClr val="2C3E50"/>
                </a:solidFill>
                <a:latin typeface="Calibri"/>
              </a:rPr>
              <a:t>Power‑line interference: adaptive PLL‑style canceller with a QRS‑blocking mask (protects heartbeats while tracking the 50 Hz line) — same adaptive‑cancellation spirit as the paper, different mechanism</a:t>
            </a:r>
          </a:p>
          <a:p>
            <a:pPr marL="274320" indent="-274320">
              <a:spcAft>
                <a:spcPts val="1200"/>
              </a:spcAft>
            </a:pPr>
            <a:r>
              <a:rPr sz="1700">
                <a:solidFill>
                  <a:srgbClr val="16A085"/>
                </a:solidFill>
                <a:latin typeface="Calibri"/>
              </a:rPr>
              <a:t>▪  </a:t>
            </a:r>
            <a:r>
              <a:rPr sz="1700">
                <a:solidFill>
                  <a:srgbClr val="2C3E50"/>
                </a:solidFill>
                <a:latin typeface="Calibri"/>
              </a:rPr>
              <a:t>Result: 50 Hz line essentially gone from the spectrum</a:t>
            </a:r>
          </a:p>
        </p:txBody>
      </p:sp>
      <p:sp>
        <p:nvSpPr>
          <p:cNvPr id="6" name="Rectangle 5"/>
          <p:cNvSpPr/>
          <p:nvPr/>
        </p:nvSpPr>
        <p:spPr>
          <a:xfrm>
            <a:off x="5018720" y="2392078"/>
            <a:ext cx="4210318" cy="2467034"/>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seline_wander_removal_power_line_interference_cancellation_s1_s3.png"/>
          <p:cNvPicPr>
            <a:picLocks noChangeAspect="1"/>
          </p:cNvPicPr>
          <p:nvPr/>
        </p:nvPicPr>
        <p:blipFill>
          <a:blip r:embed="rId2"/>
          <a:stretch>
            <a:fillRect/>
          </a:stretch>
        </p:blipFill>
        <p:spPr>
          <a:xfrm>
            <a:off x="5073584" y="2446942"/>
            <a:ext cx="4100590" cy="2357306"/>
          </a:xfrm>
          <a:prstGeom prst="rect">
            <a:avLst/>
          </a:prstGeom>
        </p:spPr>
      </p:pic>
      <p:sp>
        <p:nvSpPr>
          <p:cNvPr id="8" name="TextBox 7"/>
          <p:cNvSpPr txBox="1"/>
          <p:nvPr/>
        </p:nvSpPr>
        <p:spPr>
          <a:xfrm>
            <a:off x="5073584" y="4895689"/>
            <a:ext cx="4100590" cy="274320"/>
          </a:xfrm>
          <a:prstGeom prst="rect">
            <a:avLst/>
          </a:prstGeom>
          <a:noFill/>
        </p:spPr>
        <p:txBody>
          <a:bodyPr wrap="none">
            <a:spAutoFit/>
          </a:bodyPr>
          <a:lstStyle/>
          <a:p>
            <a:pPr algn="ctr"/>
            <a:r>
              <a:rPr sz="1100" i="1">
                <a:solidFill>
                  <a:srgbClr val="5A6B78"/>
                </a:solidFill>
                <a:latin typeface="Calibri"/>
              </a:rPr>
              <a:t>Figure 1. baseline wander + power-line interference</a:t>
            </a:r>
          </a:p>
        </p:txBody>
      </p:sp>
      <p:sp>
        <p:nvSpPr>
          <p:cNvPr id="9" name="Rectangle 8"/>
          <p:cNvSpPr/>
          <p:nvPr/>
        </p:nvSpPr>
        <p:spPr>
          <a:xfrm>
            <a:off x="9347911" y="3162380"/>
            <a:ext cx="2395728" cy="926431"/>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aseline_wander_remover_fir_filter_stage_1.png"/>
          <p:cNvPicPr>
            <a:picLocks noChangeAspect="1"/>
          </p:cNvPicPr>
          <p:nvPr/>
        </p:nvPicPr>
        <p:blipFill>
          <a:blip r:embed="rId3"/>
          <a:stretch>
            <a:fillRect/>
          </a:stretch>
        </p:blipFill>
        <p:spPr>
          <a:xfrm>
            <a:off x="9402775" y="3217244"/>
            <a:ext cx="2286000" cy="816703"/>
          </a:xfrm>
          <a:prstGeom prst="rect">
            <a:avLst/>
          </a:prstGeom>
        </p:spPr>
      </p:pic>
      <p:sp>
        <p:nvSpPr>
          <p:cNvPr id="11" name="TextBox 10"/>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2" name="TextBox 11"/>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Stage 3–4 in practice: maternal QRS detection &amp; MECG cancellation</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4250624" cy="5102352"/>
          </a:xfrm>
          <a:prstGeom prst="rect">
            <a:avLst/>
          </a:prstGeom>
          <a:noFill/>
        </p:spPr>
        <p:txBody>
          <a:bodyPr wrap="square" anchor="ctr">
            <a:spAutoFit/>
          </a:bodyPr>
          <a:lstStyle/>
          <a:p>
            <a:pPr marL="274320" indent="-274320">
              <a:spcAft>
                <a:spcPts val="1200"/>
              </a:spcAft>
            </a:pPr>
            <a:r>
              <a:rPr sz="1700">
                <a:solidFill>
                  <a:srgbClr val="16A085"/>
                </a:solidFill>
                <a:latin typeface="Calibri"/>
              </a:rPr>
              <a:t>▪  </a:t>
            </a:r>
            <a:r>
              <a:rPr sz="1700">
                <a:solidFill>
                  <a:srgbClr val="2C3E50"/>
                </a:solidFill>
                <a:latin typeface="Calibri"/>
              </a:rPr>
              <a:t>Maternal QRS detection: PCA channel‑combination (maximises SNR) + cross‑correlation matched filter — </a:t>
            </a:r>
            <a:r>
              <a:rPr b="1" sz="1700">
                <a:solidFill>
                  <a:srgbClr val="2C3E50"/>
                </a:solidFill>
                <a:latin typeface="Calibri"/>
              </a:rPr>
              <a:t>matches the paper</a:t>
            </a:r>
          </a:p>
          <a:p>
            <a:pPr marL="274320" indent="-274320">
              <a:spcAft>
                <a:spcPts val="1200"/>
              </a:spcAft>
            </a:pPr>
            <a:r>
              <a:rPr sz="1700">
                <a:solidFill>
                  <a:srgbClr val="16A085"/>
                </a:solidFill>
                <a:latin typeface="Calibri"/>
              </a:rPr>
              <a:t>▪  </a:t>
            </a:r>
            <a:r>
              <a:rPr sz="1700">
                <a:solidFill>
                  <a:srgbClr val="2C3E50"/>
                </a:solidFill>
                <a:latin typeface="Calibri"/>
              </a:rPr>
              <a:t>MECG cancellation: average P‑wave/QRS/T‑wave templates, each </a:t>
            </a:r>
            <a:r>
              <a:rPr b="1" sz="1700">
                <a:solidFill>
                  <a:srgbClr val="2C3E50"/>
                </a:solidFill>
                <a:latin typeface="Calibri"/>
              </a:rPr>
              <a:t>scaled independently</a:t>
            </a:r>
            <a:r>
              <a:rPr sz="1700">
                <a:solidFill>
                  <a:srgbClr val="2C3E50"/>
                </a:solidFill>
                <a:latin typeface="Calibri"/>
              </a:rPr>
              <a:t> via least squares (paper's method)</a:t>
            </a:r>
          </a:p>
          <a:p>
            <a:pPr marL="274320" indent="-274320">
              <a:spcAft>
                <a:spcPts val="1200"/>
              </a:spcAft>
            </a:pPr>
            <a:r>
              <a:rPr sz="1700">
                <a:solidFill>
                  <a:srgbClr val="16A085"/>
                </a:solidFill>
                <a:latin typeface="Calibri"/>
              </a:rPr>
              <a:t>▪  </a:t>
            </a:r>
            <a:r>
              <a:rPr sz="1700">
                <a:solidFill>
                  <a:srgbClr val="2C3E50"/>
                </a:solidFill>
                <a:latin typeface="Calibri"/>
              </a:rPr>
              <a:t>This implementation adds </a:t>
            </a:r>
            <a:r>
              <a:rPr b="1" sz="1700">
                <a:solidFill>
                  <a:srgbClr val="2C3E50"/>
                </a:solidFill>
                <a:latin typeface="Calibri"/>
              </a:rPr>
              <a:t>Ridge (Tikhonov) regularisation</a:t>
            </a:r>
            <a:r>
              <a:rPr sz="1700">
                <a:solidFill>
                  <a:srgbClr val="2C3E50"/>
                </a:solidFill>
                <a:latin typeface="Calibri"/>
              </a:rPr>
              <a:t> to that least‑squares fit for numerical stability — one deviation from the original paper</a:t>
            </a:r>
          </a:p>
        </p:txBody>
      </p:sp>
      <p:sp>
        <p:nvSpPr>
          <p:cNvPr id="6" name="Rectangle 5"/>
          <p:cNvSpPr/>
          <p:nvPr/>
        </p:nvSpPr>
        <p:spPr>
          <a:xfrm>
            <a:off x="5345721" y="1179576"/>
            <a:ext cx="6070917" cy="4892040"/>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ternal_qrs_detection_and_mecg_cancellation_s4_s5.png"/>
          <p:cNvPicPr>
            <a:picLocks noChangeAspect="1"/>
          </p:cNvPicPr>
          <p:nvPr/>
        </p:nvPicPr>
        <p:blipFill>
          <a:blip r:embed="rId2"/>
          <a:stretch>
            <a:fillRect/>
          </a:stretch>
        </p:blipFill>
        <p:spPr>
          <a:xfrm>
            <a:off x="5400585" y="1234440"/>
            <a:ext cx="5961189" cy="4782312"/>
          </a:xfrm>
          <a:prstGeom prst="rect">
            <a:avLst/>
          </a:prstGeom>
        </p:spPr>
      </p:pic>
      <p:sp>
        <p:nvSpPr>
          <p:cNvPr id="8" name="TextBox 7"/>
          <p:cNvSpPr txBox="1"/>
          <p:nvPr/>
        </p:nvSpPr>
        <p:spPr>
          <a:xfrm>
            <a:off x="5073584" y="6108192"/>
            <a:ext cx="6615190" cy="274320"/>
          </a:xfrm>
          <a:prstGeom prst="rect">
            <a:avLst/>
          </a:prstGeom>
          <a:noFill/>
        </p:spPr>
        <p:txBody>
          <a:bodyPr wrap="none">
            <a:spAutoFit/>
          </a:bodyPr>
          <a:lstStyle/>
          <a:p>
            <a:pPr algn="ctr"/>
            <a:r>
              <a:rPr sz="1100" i="1">
                <a:solidFill>
                  <a:srgbClr val="5A6B78"/>
                </a:solidFill>
                <a:latin typeface="Calibri"/>
              </a:rPr>
              <a:t>Figure 2. maternal QRS detection &amp; MECG cancellation</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Stage 5 in practice: fetal QRS detection &amp; FECG extraction</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4250624" cy="5102352"/>
          </a:xfrm>
          <a:prstGeom prst="rect">
            <a:avLst/>
          </a:prstGeom>
          <a:noFill/>
        </p:spPr>
        <p:txBody>
          <a:bodyPr wrap="square" anchor="ctr">
            <a:spAutoFit/>
          </a:bodyPr>
          <a:lstStyle/>
          <a:p>
            <a:pPr marL="274320" indent="-274320">
              <a:spcAft>
                <a:spcPts val="1200"/>
              </a:spcAft>
            </a:pPr>
            <a:r>
              <a:rPr sz="1700">
                <a:solidFill>
                  <a:srgbClr val="16A085"/>
                </a:solidFill>
                <a:latin typeface="Calibri"/>
              </a:rPr>
              <a:t>▪  </a:t>
            </a:r>
            <a:r>
              <a:rPr sz="1700">
                <a:solidFill>
                  <a:srgbClr val="2C3E50"/>
                </a:solidFill>
                <a:latin typeface="Calibri"/>
              </a:rPr>
              <a:t>PCA enhancement of the MECG‑free signal</a:t>
            </a:r>
          </a:p>
          <a:p>
            <a:pPr marL="274320" indent="-274320">
              <a:spcAft>
                <a:spcPts val="1200"/>
              </a:spcAft>
            </a:pPr>
            <a:r>
              <a:rPr sz="1700">
                <a:solidFill>
                  <a:srgbClr val="16A085"/>
                </a:solidFill>
                <a:latin typeface="Calibri"/>
              </a:rPr>
              <a:t>▪  </a:t>
            </a:r>
            <a:r>
              <a:rPr sz="1700">
                <a:solidFill>
                  <a:srgbClr val="2C3E50"/>
                </a:solidFill>
                <a:latin typeface="Calibri"/>
              </a:rPr>
              <a:t>Candidate peaks: squared‑signal </a:t>
            </a:r>
            <a:r>
              <a:rPr b="1" sz="1700">
                <a:solidFill>
                  <a:srgbClr val="2C3E50"/>
                </a:solidFill>
                <a:latin typeface="Calibri"/>
              </a:rPr>
              <a:t>energy thresholding</a:t>
            </a:r>
          </a:p>
          <a:p>
            <a:pPr marL="274320" indent="-274320">
              <a:spcAft>
                <a:spcPts val="1200"/>
              </a:spcAft>
            </a:pPr>
            <a:r>
              <a:rPr sz="1700">
                <a:solidFill>
                  <a:srgbClr val="16A085"/>
                </a:solidFill>
                <a:latin typeface="Calibri"/>
              </a:rPr>
              <a:t>▪  </a:t>
            </a:r>
            <a:r>
              <a:rPr sz="1700">
                <a:solidFill>
                  <a:srgbClr val="2C3E50"/>
                </a:solidFill>
                <a:latin typeface="Calibri"/>
              </a:rPr>
              <a:t>Refinement: cross‑correlation matched filter</a:t>
            </a:r>
          </a:p>
          <a:p>
            <a:pPr marL="274320" indent="-274320">
              <a:spcAft>
                <a:spcPts val="1200"/>
              </a:spcAft>
            </a:pPr>
            <a:r>
              <a:rPr sz="1700">
                <a:solidFill>
                  <a:srgbClr val="16A085"/>
                </a:solidFill>
                <a:latin typeface="Calibri"/>
              </a:rPr>
              <a:t>▪  </a:t>
            </a:r>
            <a:r>
              <a:rPr sz="1700">
                <a:solidFill>
                  <a:srgbClr val="2C3E50"/>
                </a:solidFill>
                <a:latin typeface="Calibri"/>
              </a:rPr>
              <a:t>Final step: synchronous averaging of ~150 beats → SNR boost of √N (paper's approach)</a:t>
            </a:r>
          </a:p>
        </p:txBody>
      </p:sp>
      <p:sp>
        <p:nvSpPr>
          <p:cNvPr id="6" name="Rectangle 5"/>
          <p:cNvSpPr/>
          <p:nvPr/>
        </p:nvSpPr>
        <p:spPr>
          <a:xfrm>
            <a:off x="5923376" y="1179576"/>
            <a:ext cx="4915607" cy="4892040"/>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ternal_and_fetal_qrs_detection.png"/>
          <p:cNvPicPr>
            <a:picLocks noChangeAspect="1"/>
          </p:cNvPicPr>
          <p:nvPr/>
        </p:nvPicPr>
        <p:blipFill>
          <a:blip r:embed="rId2"/>
          <a:srcRect l="50000" t="6000"/>
          <a:stretch>
            <a:fillRect/>
          </a:stretch>
        </p:blipFill>
        <p:spPr>
          <a:xfrm>
            <a:off x="5978240" y="1234440"/>
            <a:ext cx="4805879" cy="4782312"/>
          </a:xfrm>
          <a:prstGeom prst="rect">
            <a:avLst/>
          </a:prstGeom>
        </p:spPr>
      </p:pic>
      <p:sp>
        <p:nvSpPr>
          <p:cNvPr id="8" name="TextBox 7"/>
          <p:cNvSpPr txBox="1"/>
          <p:nvPr/>
        </p:nvSpPr>
        <p:spPr>
          <a:xfrm>
            <a:off x="5073584" y="6108192"/>
            <a:ext cx="6615190" cy="274320"/>
          </a:xfrm>
          <a:prstGeom prst="rect">
            <a:avLst/>
          </a:prstGeom>
          <a:noFill/>
        </p:spPr>
        <p:txBody>
          <a:bodyPr wrap="none">
            <a:spAutoFit/>
          </a:bodyPr>
          <a:lstStyle/>
          <a:p>
            <a:pPr algn="ctr"/>
            <a:r>
              <a:rPr sz="1100" i="1">
                <a:solidFill>
                  <a:srgbClr val="5A6B78"/>
                </a:solidFill>
                <a:latin typeface="Calibri"/>
              </a:rPr>
              <a:t>Figure 3. fetal QRS detection &amp; FECG extraction</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Full pipeline at a glance</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85855" cy="1417320"/>
          </a:xfrm>
          <a:prstGeom prst="rect">
            <a:avLst/>
          </a:prstGeom>
          <a:noFill/>
        </p:spPr>
        <p:txBody>
          <a:bodyPr wrap="square" anchor="t">
            <a:spAutoFit/>
          </a:bodyPr>
          <a:lstStyle/>
          <a:p>
            <a:pPr marL="274320" indent="-274320">
              <a:spcAft>
                <a:spcPts val="1200"/>
              </a:spcAft>
            </a:pPr>
            <a:r>
              <a:rPr sz="1700">
                <a:solidFill>
                  <a:srgbClr val="16A085"/>
                </a:solidFill>
                <a:latin typeface="Calibri"/>
              </a:rPr>
              <a:t>▪  </a:t>
            </a:r>
            <a:r>
              <a:rPr sz="1700">
                <a:solidFill>
                  <a:srgbClr val="2C3E50"/>
                </a:solidFill>
                <a:latin typeface="Calibri"/>
              </a:rPr>
              <a:t>Raw → cleaned → MECG removed → clean averaged fetal beat</a:t>
            </a:r>
          </a:p>
          <a:p>
            <a:pPr marL="274320" indent="-274320">
              <a:spcAft>
                <a:spcPts val="1200"/>
              </a:spcAft>
            </a:pPr>
            <a:r>
              <a:rPr sz="1700">
                <a:solidFill>
                  <a:srgbClr val="16A085"/>
                </a:solidFill>
                <a:latin typeface="Calibri"/>
              </a:rPr>
              <a:t>▪  </a:t>
            </a:r>
            <a:r>
              <a:rPr sz="1700">
                <a:solidFill>
                  <a:srgbClr val="2C3E50"/>
                </a:solidFill>
                <a:latin typeface="Calibri"/>
              </a:rPr>
              <a:t>One figure, four stages, four channels</a:t>
            </a:r>
          </a:p>
        </p:txBody>
      </p:sp>
      <p:sp>
        <p:nvSpPr>
          <p:cNvPr id="6" name="Rectangle 5"/>
          <p:cNvSpPr/>
          <p:nvPr/>
        </p:nvSpPr>
        <p:spPr>
          <a:xfrm>
            <a:off x="2741143" y="2688336"/>
            <a:ext cx="6709408" cy="3383279"/>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quential_analysis_pipeline.png"/>
          <p:cNvPicPr>
            <a:picLocks noChangeAspect="1"/>
          </p:cNvPicPr>
          <p:nvPr/>
        </p:nvPicPr>
        <p:blipFill>
          <a:blip r:embed="rId2"/>
          <a:stretch>
            <a:fillRect/>
          </a:stretch>
        </p:blipFill>
        <p:spPr>
          <a:xfrm>
            <a:off x="2796007" y="2743200"/>
            <a:ext cx="6599680" cy="3273551"/>
          </a:xfrm>
          <a:prstGeom prst="rect">
            <a:avLst/>
          </a:prstGeom>
        </p:spPr>
      </p:pic>
      <p:sp>
        <p:nvSpPr>
          <p:cNvPr id="8" name="TextBox 7"/>
          <p:cNvSpPr txBox="1"/>
          <p:nvPr/>
        </p:nvSpPr>
        <p:spPr>
          <a:xfrm>
            <a:off x="502920" y="6108192"/>
            <a:ext cx="11185855" cy="274320"/>
          </a:xfrm>
          <a:prstGeom prst="rect">
            <a:avLst/>
          </a:prstGeom>
          <a:noFill/>
        </p:spPr>
        <p:txBody>
          <a:bodyPr wrap="none">
            <a:spAutoFit/>
          </a:bodyPr>
          <a:lstStyle/>
          <a:p>
            <a:pPr algn="ctr"/>
            <a:r>
              <a:rPr sz="1100" i="1">
                <a:solidFill>
                  <a:srgbClr val="5A6B78"/>
                </a:solidFill>
                <a:latin typeface="Calibri"/>
              </a:rPr>
              <a:t>Figure 4. Full pipeline at a glance</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Qualitative validation against ground truth</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4250624" cy="5102352"/>
          </a:xfrm>
          <a:prstGeom prst="rect">
            <a:avLst/>
          </a:prstGeom>
          <a:noFill/>
        </p:spPr>
        <p:txBody>
          <a:bodyPr wrap="square" anchor="ctr">
            <a:spAutoFit/>
          </a:bodyPr>
          <a:lstStyle/>
          <a:p>
            <a:pPr marL="274320" indent="-274320">
              <a:spcAft>
                <a:spcPts val="1200"/>
              </a:spcAft>
            </a:pPr>
            <a:r>
              <a:rPr sz="1700">
                <a:solidFill>
                  <a:srgbClr val="16A085"/>
                </a:solidFill>
                <a:latin typeface="Calibri"/>
              </a:rPr>
              <a:t>▪  </a:t>
            </a:r>
            <a:r>
              <a:rPr sz="1700">
                <a:solidFill>
                  <a:srgbClr val="2C3E50"/>
                </a:solidFill>
                <a:latin typeface="Calibri"/>
              </a:rPr>
              <a:t>Detected fetal QRS peaks (red) vs. `.fqrs` ground‑truth annotations (blue), ±50 ms tolerance</a:t>
            </a:r>
          </a:p>
          <a:p>
            <a:pPr marL="274320" indent="-274320">
              <a:spcAft>
                <a:spcPts val="1200"/>
              </a:spcAft>
            </a:pPr>
            <a:r>
              <a:rPr sz="1700">
                <a:solidFill>
                  <a:srgbClr val="16A085"/>
                </a:solidFill>
                <a:latin typeface="Calibri"/>
              </a:rPr>
              <a:t>▪  </a:t>
            </a:r>
            <a:r>
              <a:rPr sz="1700">
                <a:solidFill>
                  <a:srgbClr val="2C3E50"/>
                </a:solidFill>
                <a:latin typeface="Calibri"/>
              </a:rPr>
              <a:t>Real 10‑second, 4‑channel strip</a:t>
            </a:r>
          </a:p>
          <a:p>
            <a:pPr marL="274320" indent="-274320">
              <a:spcAft>
                <a:spcPts val="1200"/>
              </a:spcAft>
            </a:pPr>
            <a:r>
              <a:rPr sz="1700">
                <a:solidFill>
                  <a:srgbClr val="16A085"/>
                </a:solidFill>
                <a:latin typeface="Calibri"/>
              </a:rPr>
              <a:t>▪  </a:t>
            </a:r>
            <a:r>
              <a:rPr sz="1700">
                <a:solidFill>
                  <a:srgbClr val="2C3E50"/>
                </a:solidFill>
                <a:latin typeface="Calibri"/>
              </a:rPr>
              <a:t>Averaged fetal morphology across 124 ground‑truth‑matched beats</a:t>
            </a:r>
          </a:p>
        </p:txBody>
      </p:sp>
      <p:sp>
        <p:nvSpPr>
          <p:cNvPr id="6" name="Rectangle 5"/>
          <p:cNvSpPr/>
          <p:nvPr/>
        </p:nvSpPr>
        <p:spPr>
          <a:xfrm>
            <a:off x="5018720" y="1214288"/>
            <a:ext cx="6724918" cy="4822614"/>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tection_validation.png"/>
          <p:cNvPicPr>
            <a:picLocks noChangeAspect="1"/>
          </p:cNvPicPr>
          <p:nvPr/>
        </p:nvPicPr>
        <p:blipFill>
          <a:blip r:embed="rId2"/>
          <a:stretch>
            <a:fillRect/>
          </a:stretch>
        </p:blipFill>
        <p:spPr>
          <a:xfrm>
            <a:off x="5073584" y="1269152"/>
            <a:ext cx="6615190" cy="4712886"/>
          </a:xfrm>
          <a:prstGeom prst="rect">
            <a:avLst/>
          </a:prstGeom>
        </p:spPr>
      </p:pic>
      <p:sp>
        <p:nvSpPr>
          <p:cNvPr id="8" name="TextBox 7"/>
          <p:cNvSpPr txBox="1"/>
          <p:nvPr/>
        </p:nvSpPr>
        <p:spPr>
          <a:xfrm>
            <a:off x="5073584" y="6073479"/>
            <a:ext cx="6615190" cy="274320"/>
          </a:xfrm>
          <a:prstGeom prst="rect">
            <a:avLst/>
          </a:prstGeom>
          <a:noFill/>
        </p:spPr>
        <p:txBody>
          <a:bodyPr wrap="none">
            <a:spAutoFit/>
          </a:bodyPr>
          <a:lstStyle/>
          <a:p>
            <a:pPr algn="ctr"/>
            <a:r>
              <a:rPr sz="1100" i="1">
                <a:solidFill>
                  <a:srgbClr val="5A6B78"/>
                </a:solidFill>
                <a:latin typeface="Calibri"/>
              </a:rPr>
              <a:t>Figure 5. Qualitative validation against ground truth</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Baseline comparison: the ICA pipeline</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85855" cy="1417320"/>
          </a:xfrm>
          <a:prstGeom prst="rect">
            <a:avLst/>
          </a:prstGeom>
          <a:noFill/>
        </p:spPr>
        <p:txBody>
          <a:bodyPr wrap="square" anchor="t">
            <a:spAutoFit/>
          </a:bodyPr>
          <a:lstStyle/>
          <a:p>
            <a:pPr marL="274320" indent="-274320">
              <a:spcAft>
                <a:spcPts val="1200"/>
              </a:spcAft>
            </a:pPr>
            <a:r>
              <a:rPr sz="1700">
                <a:solidFill>
                  <a:srgbClr val="16A085"/>
                </a:solidFill>
                <a:latin typeface="Calibri"/>
              </a:rPr>
              <a:t>▪  </a:t>
            </a:r>
            <a:r>
              <a:rPr sz="1700">
                <a:solidFill>
                  <a:srgbClr val="2C3E50"/>
                </a:solidFill>
                <a:latin typeface="Calibri"/>
              </a:rPr>
              <a:t>FastICA run on the same preprocessed data (baseline wander + PLI removed) as the "blind" alternative</a:t>
            </a:r>
          </a:p>
          <a:p>
            <a:pPr marL="274320" indent="-274320">
              <a:spcAft>
                <a:spcPts val="1200"/>
              </a:spcAft>
            </a:pPr>
            <a:r>
              <a:rPr sz="1700">
                <a:solidFill>
                  <a:srgbClr val="16A085"/>
                </a:solidFill>
                <a:latin typeface="Calibri"/>
              </a:rPr>
              <a:t>▪  </a:t>
            </a:r>
            <a:r>
              <a:rPr sz="1700">
                <a:solidFill>
                  <a:srgbClr val="2C3E50"/>
                </a:solidFill>
                <a:latin typeface="Calibri"/>
              </a:rPr>
              <a:t>Best independent component auto‑selected by FHR‑detection yield</a:t>
            </a:r>
          </a:p>
          <a:p>
            <a:pPr marL="274320" indent="-274320">
              <a:spcAft>
                <a:spcPts val="1200"/>
              </a:spcAft>
            </a:pPr>
            <a:r>
              <a:rPr sz="1700">
                <a:solidFill>
                  <a:srgbClr val="16A085"/>
                </a:solidFill>
                <a:latin typeface="Calibri"/>
              </a:rPr>
              <a:t>▪  </a:t>
            </a:r>
            <a:r>
              <a:rPr sz="1700">
                <a:solidFill>
                  <a:srgbClr val="2C3E50"/>
                </a:solidFill>
                <a:latin typeface="Calibri"/>
              </a:rPr>
              <a:t>Note: the paper used JADE; this implementation uses FastICA (same blind‑source‑separation family)</a:t>
            </a:r>
          </a:p>
        </p:txBody>
      </p:sp>
      <p:sp>
        <p:nvSpPr>
          <p:cNvPr id="6" name="Rectangle 5"/>
          <p:cNvSpPr/>
          <p:nvPr/>
        </p:nvSpPr>
        <p:spPr>
          <a:xfrm>
            <a:off x="2741143" y="2688336"/>
            <a:ext cx="6709408" cy="3383279"/>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a_algorithm_pipeline.png"/>
          <p:cNvPicPr>
            <a:picLocks noChangeAspect="1"/>
          </p:cNvPicPr>
          <p:nvPr/>
        </p:nvPicPr>
        <p:blipFill>
          <a:blip r:embed="rId2"/>
          <a:stretch>
            <a:fillRect/>
          </a:stretch>
        </p:blipFill>
        <p:spPr>
          <a:xfrm>
            <a:off x="2796007" y="2743200"/>
            <a:ext cx="6599680" cy="3273551"/>
          </a:xfrm>
          <a:prstGeom prst="rect">
            <a:avLst/>
          </a:prstGeom>
        </p:spPr>
      </p:pic>
      <p:sp>
        <p:nvSpPr>
          <p:cNvPr id="8" name="TextBox 7"/>
          <p:cNvSpPr txBox="1"/>
          <p:nvPr/>
        </p:nvSpPr>
        <p:spPr>
          <a:xfrm>
            <a:off x="502920" y="6108192"/>
            <a:ext cx="11185855" cy="274320"/>
          </a:xfrm>
          <a:prstGeom prst="rect">
            <a:avLst/>
          </a:prstGeom>
          <a:noFill/>
        </p:spPr>
        <p:txBody>
          <a:bodyPr wrap="none">
            <a:spAutoFit/>
          </a:bodyPr>
          <a:lstStyle/>
          <a:p>
            <a:pPr algn="ctr"/>
            <a:r>
              <a:rPr sz="1100" i="1">
                <a:solidFill>
                  <a:srgbClr val="5A6B78"/>
                </a:solidFill>
                <a:latin typeface="Calibri"/>
              </a:rPr>
              <a:t>Figure 6. Baseline comparison: the ICA pipeline</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Evaluation metrics</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34440"/>
            <a:ext cx="11185855" cy="888796"/>
          </a:xfrm>
          <a:prstGeom prst="roundRect">
            <a:avLst>
              <a:gd name="adj" fmla="val 12000"/>
            </a:avLst>
          </a:prstGeom>
          <a:solidFill>
            <a:srgbClr val="F8F9FA"/>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a:solidFill>
                  <a:srgbClr val="2C3E50"/>
                </a:solidFill>
                <a:latin typeface="Calibri"/>
              </a:rPr>
              <a:t>Success = ≥60% of the recording covered by physiologically valid, RR‑interval‑derived FHR estimates</a:t>
            </a:r>
          </a:p>
        </p:txBody>
      </p:sp>
      <p:sp>
        <p:nvSpPr>
          <p:cNvPr id="6" name="Rounded Rectangle 5"/>
          <p:cNvSpPr/>
          <p:nvPr/>
        </p:nvSpPr>
        <p:spPr>
          <a:xfrm>
            <a:off x="502920" y="2287828"/>
            <a:ext cx="11185855" cy="888796"/>
          </a:xfrm>
          <a:prstGeom prst="roundRect">
            <a:avLst>
              <a:gd name="adj" fmla="val 12000"/>
            </a:avLst>
          </a:prstGeom>
          <a:solidFill>
            <a:srgbClr val="F8F9FA"/>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a:solidFill>
                  <a:srgbClr val="2C3E50"/>
                </a:solidFill>
                <a:latin typeface="Calibri"/>
              </a:rPr>
              <a:t>Reliability = 1 − (outliers / total), outlier = &gt;10 bpm deviation from the 10s‑block median FHR</a:t>
            </a:r>
          </a:p>
        </p:txBody>
      </p:sp>
      <p:sp>
        <p:nvSpPr>
          <p:cNvPr id="7" name="Rounded Rectangle 6"/>
          <p:cNvSpPr/>
          <p:nvPr/>
        </p:nvSpPr>
        <p:spPr>
          <a:xfrm>
            <a:off x="502920" y="3341217"/>
            <a:ext cx="11185855" cy="888796"/>
          </a:xfrm>
          <a:prstGeom prst="roundRect">
            <a:avLst>
              <a:gd name="adj" fmla="val 12000"/>
            </a:avLst>
          </a:prstGeom>
          <a:solidFill>
            <a:srgbClr val="F8F9FA"/>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a:solidFill>
                  <a:srgbClr val="2C3E50"/>
                </a:solidFill>
                <a:latin typeface="Calibri"/>
              </a:rPr>
              <a:t>SNRⱼ, SIRⱼ (dB) — from S6 (averaged FECG) vs. S4−S5 (MECG) and vs. residual noise power</a:t>
            </a:r>
          </a:p>
        </p:txBody>
      </p:sp>
      <p:sp>
        <p:nvSpPr>
          <p:cNvPr id="8" name="Rounded Rectangle 7"/>
          <p:cNvSpPr/>
          <p:nvPr/>
        </p:nvSpPr>
        <p:spPr>
          <a:xfrm>
            <a:off x="502920" y="4394606"/>
            <a:ext cx="11185855" cy="888796"/>
          </a:xfrm>
          <a:prstGeom prst="roundRect">
            <a:avLst>
              <a:gd name="adj" fmla="val 12000"/>
            </a:avLst>
          </a:prstGeom>
          <a:solidFill>
            <a:srgbClr val="F8F9FA"/>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a:solidFill>
                  <a:srgbClr val="2C3E50"/>
                </a:solidFill>
                <a:latin typeface="Calibri"/>
              </a:rPr>
              <a:t>Precision (PPV) = TP / (TP+FP), Recall (Sensitivity) = TP / (TP+FN), F1 — matched to `.fqrs` ground truth at ±50 ms tolerance</a:t>
            </a:r>
          </a:p>
        </p:txBody>
      </p:sp>
      <p:sp>
        <p:nvSpPr>
          <p:cNvPr id="9" name="Rounded Rectangle 8"/>
          <p:cNvSpPr/>
          <p:nvPr/>
        </p:nvSpPr>
        <p:spPr>
          <a:xfrm>
            <a:off x="502920" y="5447995"/>
            <a:ext cx="11185855" cy="888796"/>
          </a:xfrm>
          <a:prstGeom prst="roundRect">
            <a:avLst>
              <a:gd name="adj" fmla="val 12000"/>
            </a:avLst>
          </a:prstGeom>
          <a:solidFill>
            <a:srgbClr val="F8F9FA"/>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a:solidFill>
                  <a:srgbClr val="2C3E50"/>
                </a:solidFill>
                <a:latin typeface="Calibri"/>
              </a:rPr>
              <a:t>FHR‑value MAE / RMSE (bpm) — estimated vs. ground‑truth FHR, interpolated onto a common 1 s grid</a:t>
            </a:r>
          </a:p>
        </p:txBody>
      </p:sp>
      <p:sp>
        <p:nvSpPr>
          <p:cNvPr id="10" name="TextBox 9"/>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1" name="TextBox 10"/>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Results I: success rate &amp; reliability</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85855" cy="1417320"/>
          </a:xfrm>
          <a:prstGeom prst="rect">
            <a:avLst/>
          </a:prstGeom>
          <a:noFill/>
        </p:spPr>
        <p:txBody>
          <a:bodyPr wrap="square" anchor="t">
            <a:spAutoFit/>
          </a:bodyPr>
          <a:lstStyle/>
          <a:p>
            <a:pPr marL="274320" indent="-274320">
              <a:spcAft>
                <a:spcPts val="1200"/>
              </a:spcAft>
            </a:pPr>
            <a:r>
              <a:rPr sz="1700">
                <a:solidFill>
                  <a:srgbClr val="16A085"/>
                </a:solidFill>
                <a:latin typeface="Calibri"/>
              </a:rPr>
              <a:t>▪  </a:t>
            </a:r>
            <a:r>
              <a:rPr sz="1700">
                <a:solidFill>
                  <a:srgbClr val="2C3E50"/>
                </a:solidFill>
                <a:latin typeface="Calibri"/>
              </a:rPr>
              <a:t>FHR detection success rate: </a:t>
            </a:r>
            <a:r>
              <a:rPr b="1" sz="1700">
                <a:solidFill>
                  <a:srgbClr val="2C3E50"/>
                </a:solidFill>
                <a:latin typeface="Calibri"/>
              </a:rPr>
              <a:t>Sequential Analysis 92% vs. ICA 96%</a:t>
            </a:r>
            <a:r>
              <a:rPr sz="1700">
                <a:solidFill>
                  <a:srgbClr val="2C3E50"/>
                </a:solidFill>
                <a:latin typeface="Calibri"/>
              </a:rPr>
              <a:t> (23/25 vs. 24/25 records)</a:t>
            </a:r>
          </a:p>
          <a:p>
            <a:pPr marL="274320" indent="-274320">
              <a:spcAft>
                <a:spcPts val="1200"/>
              </a:spcAft>
            </a:pPr>
            <a:r>
              <a:rPr sz="1700">
                <a:solidFill>
                  <a:srgbClr val="16A085"/>
                </a:solidFill>
                <a:latin typeface="Calibri"/>
              </a:rPr>
              <a:t>▪  </a:t>
            </a:r>
            <a:r>
              <a:rPr sz="1700">
                <a:solidFill>
                  <a:srgbClr val="2C3E50"/>
                </a:solidFill>
                <a:latin typeface="Calibri"/>
              </a:rPr>
              <a:t>Mean FHR reliability (feasible records only): </a:t>
            </a:r>
            <a:r>
              <a:rPr b="1" sz="1700">
                <a:solidFill>
                  <a:srgbClr val="2C3E50"/>
                </a:solidFill>
                <a:latin typeface="Calibri"/>
              </a:rPr>
              <a:t>Sequential Analysis 0.753 vs. ICA 0.684</a:t>
            </a:r>
          </a:p>
          <a:p>
            <a:pPr marL="274320" indent="-274320">
              <a:spcAft>
                <a:spcPts val="1200"/>
              </a:spcAft>
            </a:pPr>
            <a:r>
              <a:rPr sz="1700">
                <a:solidFill>
                  <a:srgbClr val="16A085"/>
                </a:solidFill>
                <a:latin typeface="Calibri"/>
              </a:rPr>
              <a:t>▪  </a:t>
            </a:r>
            <a:r>
              <a:rPr sz="1700">
                <a:solidFill>
                  <a:srgbClr val="2C3E50"/>
                </a:solidFill>
                <a:latin typeface="Calibri"/>
              </a:rPr>
              <a:t>Box plots: SA's spread is tighter and more consistent — ICA is bimodal (several near‑perfect records, several collapsed as low as ~0.23)</a:t>
            </a:r>
          </a:p>
        </p:txBody>
      </p:sp>
      <p:sp>
        <p:nvSpPr>
          <p:cNvPr id="6" name="Rectangle 5"/>
          <p:cNvSpPr/>
          <p:nvPr/>
        </p:nvSpPr>
        <p:spPr>
          <a:xfrm>
            <a:off x="2107868" y="2688336"/>
            <a:ext cx="7975958" cy="3383279"/>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formance_summary.png"/>
          <p:cNvPicPr>
            <a:picLocks noChangeAspect="1"/>
          </p:cNvPicPr>
          <p:nvPr/>
        </p:nvPicPr>
        <p:blipFill>
          <a:blip r:embed="rId2"/>
          <a:stretch>
            <a:fillRect/>
          </a:stretch>
        </p:blipFill>
        <p:spPr>
          <a:xfrm>
            <a:off x="2162732" y="2743200"/>
            <a:ext cx="7866230" cy="3273551"/>
          </a:xfrm>
          <a:prstGeom prst="rect">
            <a:avLst/>
          </a:prstGeom>
        </p:spPr>
      </p:pic>
      <p:sp>
        <p:nvSpPr>
          <p:cNvPr id="8" name="TextBox 7"/>
          <p:cNvSpPr txBox="1"/>
          <p:nvPr/>
        </p:nvSpPr>
        <p:spPr>
          <a:xfrm>
            <a:off x="502920" y="6108192"/>
            <a:ext cx="11185855" cy="274320"/>
          </a:xfrm>
          <a:prstGeom prst="rect">
            <a:avLst/>
          </a:prstGeom>
          <a:noFill/>
        </p:spPr>
        <p:txBody>
          <a:bodyPr wrap="none">
            <a:spAutoFit/>
          </a:bodyPr>
          <a:lstStyle/>
          <a:p>
            <a:pPr algn="ctr"/>
            <a:r>
              <a:rPr sz="1100" i="1">
                <a:solidFill>
                  <a:srgbClr val="5A6B78"/>
                </a:solidFill>
                <a:latin typeface="Calibri"/>
              </a:rPr>
              <a:t>Figure 7. success rate &amp; reliability</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Results II: ground‑truth precision / recall / F1 (headline slide)</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4250624" cy="5102352"/>
          </a:xfrm>
          <a:prstGeom prst="rect">
            <a:avLst/>
          </a:prstGeom>
          <a:noFill/>
        </p:spPr>
        <p:txBody>
          <a:bodyPr wrap="square" anchor="ctr">
            <a:spAutoFit/>
          </a:bodyPr>
          <a:lstStyle/>
          <a:p>
            <a:pPr marL="274320" indent="-274320">
              <a:spcAft>
                <a:spcPts val="1200"/>
              </a:spcAft>
            </a:pPr>
            <a:r>
              <a:rPr sz="1700">
                <a:solidFill>
                  <a:srgbClr val="16A085"/>
                </a:solidFill>
                <a:latin typeface="Calibri"/>
              </a:rPr>
              <a:t>▪  </a:t>
            </a:r>
            <a:r>
              <a:rPr b="1" sz="1700">
                <a:solidFill>
                  <a:srgbClr val="2C3E50"/>
                </a:solidFill>
                <a:latin typeface="Calibri"/>
              </a:rPr>
              <a:t>Sequential Analysis: 77.4% precision / 67.1% recall / 71.9% F1</a:t>
            </a:r>
          </a:p>
          <a:p>
            <a:pPr marL="274320" indent="-274320">
              <a:spcAft>
                <a:spcPts val="1200"/>
              </a:spcAft>
            </a:pPr>
            <a:r>
              <a:rPr sz="1700">
                <a:solidFill>
                  <a:srgbClr val="16A085"/>
                </a:solidFill>
                <a:latin typeface="Calibri"/>
              </a:rPr>
              <a:t>▪  </a:t>
            </a:r>
            <a:r>
              <a:rPr b="1" sz="1700">
                <a:solidFill>
                  <a:srgbClr val="2C3E50"/>
                </a:solidFill>
                <a:latin typeface="Calibri"/>
              </a:rPr>
              <a:t>ICA: 59.7% precision / 53.1% recall / 56.2% F1</a:t>
            </a:r>
          </a:p>
          <a:p>
            <a:pPr marL="274320" indent="-274320">
              <a:spcAft>
                <a:spcPts val="1200"/>
              </a:spcAft>
            </a:pPr>
            <a:r>
              <a:rPr sz="1700">
                <a:solidFill>
                  <a:srgbClr val="16A085"/>
                </a:solidFill>
                <a:latin typeface="Calibri"/>
              </a:rPr>
              <a:t>▪  </a:t>
            </a:r>
            <a:r>
              <a:rPr sz="1700">
                <a:solidFill>
                  <a:srgbClr val="2C3E50"/>
                </a:solidFill>
                <a:latin typeface="Calibri"/>
              </a:rPr>
              <a:t>Matched against real `.fqrs` ground‑truth annotations, ±50 ms tolerance, all 25 records</a:t>
            </a:r>
          </a:p>
        </p:txBody>
      </p:sp>
      <p:sp>
        <p:nvSpPr>
          <p:cNvPr id="6" name="Rectangle 5"/>
          <p:cNvSpPr/>
          <p:nvPr/>
        </p:nvSpPr>
        <p:spPr>
          <a:xfrm>
            <a:off x="5018720" y="1518513"/>
            <a:ext cx="6724918" cy="4214165"/>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und_truth_validation.png"/>
          <p:cNvPicPr>
            <a:picLocks noChangeAspect="1"/>
          </p:cNvPicPr>
          <p:nvPr/>
        </p:nvPicPr>
        <p:blipFill>
          <a:blip r:embed="rId2"/>
          <a:stretch>
            <a:fillRect/>
          </a:stretch>
        </p:blipFill>
        <p:spPr>
          <a:xfrm>
            <a:off x="5073584" y="1573377"/>
            <a:ext cx="6615190" cy="4104437"/>
          </a:xfrm>
          <a:prstGeom prst="rect">
            <a:avLst/>
          </a:prstGeom>
        </p:spPr>
      </p:pic>
      <p:sp>
        <p:nvSpPr>
          <p:cNvPr id="8" name="TextBox 7"/>
          <p:cNvSpPr txBox="1"/>
          <p:nvPr/>
        </p:nvSpPr>
        <p:spPr>
          <a:xfrm>
            <a:off x="5073584" y="5769254"/>
            <a:ext cx="6615190" cy="274320"/>
          </a:xfrm>
          <a:prstGeom prst="rect">
            <a:avLst/>
          </a:prstGeom>
          <a:noFill/>
        </p:spPr>
        <p:txBody>
          <a:bodyPr wrap="none">
            <a:spAutoFit/>
          </a:bodyPr>
          <a:lstStyle/>
          <a:p>
            <a:pPr algn="ctr"/>
            <a:r>
              <a:rPr sz="1100" i="1">
                <a:solidFill>
                  <a:srgbClr val="5A6B78"/>
                </a:solidFill>
                <a:latin typeface="Calibri"/>
              </a:rPr>
              <a:t>Figure 8. ground-truth precision / recall / F1</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Results III: FHR‑value accuracy (MAE/RMSE)</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85855" cy="1417320"/>
          </a:xfrm>
          <a:prstGeom prst="rect">
            <a:avLst/>
          </a:prstGeom>
          <a:noFill/>
        </p:spPr>
        <p:txBody>
          <a:bodyPr wrap="square" anchor="t">
            <a:spAutoFit/>
          </a:bodyPr>
          <a:lstStyle/>
          <a:p>
            <a:pPr marL="274320" indent="-274320">
              <a:spcAft>
                <a:spcPts val="1200"/>
              </a:spcAft>
            </a:pPr>
            <a:r>
              <a:rPr sz="1700">
                <a:solidFill>
                  <a:srgbClr val="16A085"/>
                </a:solidFill>
                <a:latin typeface="Calibri"/>
              </a:rPr>
              <a:t>▪  </a:t>
            </a:r>
            <a:r>
              <a:rPr b="1" sz="1700">
                <a:solidFill>
                  <a:srgbClr val="2C3E50"/>
                </a:solidFill>
                <a:latin typeface="Calibri"/>
              </a:rPr>
              <a:t>Sequential Analysis: MAE 13.5 bpm / RMSE 17.4 bpm</a:t>
            </a:r>
          </a:p>
          <a:p>
            <a:pPr marL="274320" indent="-274320">
              <a:spcAft>
                <a:spcPts val="1200"/>
              </a:spcAft>
            </a:pPr>
            <a:r>
              <a:rPr sz="1700">
                <a:solidFill>
                  <a:srgbClr val="16A085"/>
                </a:solidFill>
                <a:latin typeface="Calibri"/>
              </a:rPr>
              <a:t>▪  </a:t>
            </a:r>
            <a:r>
              <a:rPr b="1" sz="1700">
                <a:solidFill>
                  <a:srgbClr val="2C3E50"/>
                </a:solidFill>
                <a:latin typeface="Calibri"/>
              </a:rPr>
              <a:t>ICA: MAE 18.0 bpm / RMSE 22.2 bpm</a:t>
            </a:r>
          </a:p>
          <a:p>
            <a:pPr marL="274320" indent="-274320">
              <a:spcAft>
                <a:spcPts val="1200"/>
              </a:spcAft>
            </a:pPr>
            <a:r>
              <a:rPr sz="1700">
                <a:solidFill>
                  <a:srgbClr val="16A085"/>
                </a:solidFill>
                <a:latin typeface="Calibri"/>
              </a:rPr>
              <a:t>▪  </a:t>
            </a:r>
            <a:r>
              <a:rPr sz="1700">
                <a:solidFill>
                  <a:srgbClr val="2C3E50"/>
                </a:solidFill>
                <a:latin typeface="Calibri"/>
              </a:rPr>
              <a:t>Estimated vs. ground‑truth FHR, all 25 records, common 1‑second grid</a:t>
            </a:r>
          </a:p>
        </p:txBody>
      </p:sp>
      <p:sp>
        <p:nvSpPr>
          <p:cNvPr id="6" name="Rectangle 5"/>
          <p:cNvSpPr/>
          <p:nvPr/>
        </p:nvSpPr>
        <p:spPr>
          <a:xfrm>
            <a:off x="2462167" y="2688336"/>
            <a:ext cx="7267359" cy="3383279"/>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hr_accuracy.png"/>
          <p:cNvPicPr>
            <a:picLocks noChangeAspect="1"/>
          </p:cNvPicPr>
          <p:nvPr/>
        </p:nvPicPr>
        <p:blipFill>
          <a:blip r:embed="rId2"/>
          <a:stretch>
            <a:fillRect/>
          </a:stretch>
        </p:blipFill>
        <p:spPr>
          <a:xfrm>
            <a:off x="2517031" y="2743200"/>
            <a:ext cx="7157631" cy="3273551"/>
          </a:xfrm>
          <a:prstGeom prst="rect">
            <a:avLst/>
          </a:prstGeom>
        </p:spPr>
      </p:pic>
      <p:sp>
        <p:nvSpPr>
          <p:cNvPr id="8" name="TextBox 7"/>
          <p:cNvSpPr txBox="1"/>
          <p:nvPr/>
        </p:nvSpPr>
        <p:spPr>
          <a:xfrm>
            <a:off x="502920" y="6108192"/>
            <a:ext cx="11185855" cy="274320"/>
          </a:xfrm>
          <a:prstGeom prst="rect">
            <a:avLst/>
          </a:prstGeom>
          <a:noFill/>
        </p:spPr>
        <p:txBody>
          <a:bodyPr wrap="none">
            <a:spAutoFit/>
          </a:bodyPr>
          <a:lstStyle/>
          <a:p>
            <a:pPr algn="ctr"/>
            <a:r>
              <a:rPr sz="1100" i="1">
                <a:solidFill>
                  <a:srgbClr val="5A6B78"/>
                </a:solidFill>
                <a:latin typeface="Calibri"/>
              </a:rPr>
              <a:t>Figure 9. FHR-value accuracy</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Results IV: robustness to matching tolerance</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4250624" cy="5102352"/>
          </a:xfrm>
          <a:prstGeom prst="rect">
            <a:avLst/>
          </a:prstGeom>
          <a:noFill/>
        </p:spPr>
        <p:txBody>
          <a:bodyPr wrap="square" anchor="ctr">
            <a:spAutoFit/>
          </a:bodyPr>
          <a:lstStyle/>
          <a:p>
            <a:pPr marL="274320" indent="-274320">
              <a:spcAft>
                <a:spcPts val="1200"/>
              </a:spcAft>
            </a:pPr>
            <a:r>
              <a:rPr sz="1700">
                <a:solidFill>
                  <a:srgbClr val="16A085"/>
                </a:solidFill>
                <a:latin typeface="Calibri"/>
              </a:rPr>
              <a:t>▪  </a:t>
            </a:r>
            <a:r>
              <a:rPr sz="1700">
                <a:solidFill>
                  <a:srgbClr val="2C3E50"/>
                </a:solidFill>
                <a:latin typeface="Calibri"/>
              </a:rPr>
              <a:t>F1 recomputed at 10 / 25 / 50 / 75 / 100 ms ground‑truth matching tolerances</a:t>
            </a:r>
          </a:p>
          <a:p>
            <a:pPr marL="274320" indent="-274320">
              <a:spcAft>
                <a:spcPts val="1200"/>
              </a:spcAft>
            </a:pPr>
            <a:r>
              <a:rPr sz="1700">
                <a:solidFill>
                  <a:srgbClr val="16A085"/>
                </a:solidFill>
                <a:latin typeface="Calibri"/>
              </a:rPr>
              <a:t>▪  </a:t>
            </a:r>
            <a:r>
              <a:rPr sz="1700">
                <a:solidFill>
                  <a:srgbClr val="2C3E50"/>
                </a:solidFill>
                <a:latin typeface="Calibri"/>
              </a:rPr>
              <a:t>Sequential Analysis leads ICA at </a:t>
            </a:r>
            <a:r>
              <a:rPr b="1" sz="1700">
                <a:solidFill>
                  <a:srgbClr val="2C3E50"/>
                </a:solidFill>
                <a:latin typeface="Calibri"/>
              </a:rPr>
              <a:t>every</a:t>
            </a:r>
            <a:r>
              <a:rPr sz="1700">
                <a:solidFill>
                  <a:srgbClr val="2C3E50"/>
                </a:solidFill>
                <a:latin typeface="Calibri"/>
              </a:rPr>
              <a:t> tolerance tested</a:t>
            </a:r>
          </a:p>
          <a:p>
            <a:pPr marL="274320" indent="-274320">
              <a:spcAft>
                <a:spcPts val="1200"/>
              </a:spcAft>
            </a:pPr>
            <a:r>
              <a:rPr sz="1700">
                <a:solidFill>
                  <a:srgbClr val="16A085"/>
                </a:solidFill>
                <a:latin typeface="Calibri"/>
              </a:rPr>
              <a:t>▪  </a:t>
            </a:r>
            <a:r>
              <a:rPr sz="1700">
                <a:solidFill>
                  <a:srgbClr val="2C3E50"/>
                </a:solidFill>
                <a:latin typeface="Calibri"/>
              </a:rPr>
              <a:t>Confirms the ±50 ms headline result wasn't a cherry‑picked threshold</a:t>
            </a:r>
          </a:p>
        </p:txBody>
      </p:sp>
      <p:sp>
        <p:nvSpPr>
          <p:cNvPr id="6" name="Rectangle 5"/>
          <p:cNvSpPr/>
          <p:nvPr/>
        </p:nvSpPr>
        <p:spPr>
          <a:xfrm>
            <a:off x="5018720" y="1518513"/>
            <a:ext cx="6724918" cy="4214165"/>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lerance_sensitivity.png"/>
          <p:cNvPicPr>
            <a:picLocks noChangeAspect="1"/>
          </p:cNvPicPr>
          <p:nvPr/>
        </p:nvPicPr>
        <p:blipFill>
          <a:blip r:embed="rId2"/>
          <a:stretch>
            <a:fillRect/>
          </a:stretch>
        </p:blipFill>
        <p:spPr>
          <a:xfrm>
            <a:off x="5073584" y="1573377"/>
            <a:ext cx="6615190" cy="4104437"/>
          </a:xfrm>
          <a:prstGeom prst="rect">
            <a:avLst/>
          </a:prstGeom>
        </p:spPr>
      </p:pic>
      <p:sp>
        <p:nvSpPr>
          <p:cNvPr id="8" name="TextBox 7"/>
          <p:cNvSpPr txBox="1"/>
          <p:nvPr/>
        </p:nvSpPr>
        <p:spPr>
          <a:xfrm>
            <a:off x="5073584" y="5769254"/>
            <a:ext cx="6615190" cy="274320"/>
          </a:xfrm>
          <a:prstGeom prst="rect">
            <a:avLst/>
          </a:prstGeom>
          <a:noFill/>
        </p:spPr>
        <p:txBody>
          <a:bodyPr wrap="none">
            <a:spAutoFit/>
          </a:bodyPr>
          <a:lstStyle/>
          <a:p>
            <a:pPr algn="ctr"/>
            <a:r>
              <a:rPr sz="1100" i="1">
                <a:solidFill>
                  <a:srgbClr val="5A6B78"/>
                </a:solidFill>
                <a:latin typeface="Calibri"/>
              </a:rPr>
              <a:t>Figure 10. robustness to matching tolerance</a:t>
            </a:r>
          </a:p>
        </p:txBody>
      </p:sp>
      <p:sp>
        <p:nvSpPr>
          <p:cNvPr id="9" name="TextBox 8"/>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0" name="TextBox 9"/>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Results V: signal quality drives reliability</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4250624" cy="5102352"/>
          </a:xfrm>
          <a:prstGeom prst="rect">
            <a:avLst/>
          </a:prstGeom>
          <a:noFill/>
        </p:spPr>
        <p:txBody>
          <a:bodyPr wrap="square" anchor="ctr">
            <a:spAutoFit/>
          </a:bodyPr>
          <a:lstStyle/>
          <a:p>
            <a:pPr marL="274320" indent="-274320">
              <a:spcAft>
                <a:spcPts val="1200"/>
              </a:spcAft>
            </a:pPr>
            <a:r>
              <a:rPr sz="1700">
                <a:solidFill>
                  <a:srgbClr val="16A085"/>
                </a:solidFill>
                <a:latin typeface="Calibri"/>
              </a:rPr>
              <a:t>▪  </a:t>
            </a:r>
            <a:r>
              <a:rPr sz="1700">
                <a:solidFill>
                  <a:srgbClr val="2C3E50"/>
                </a:solidFill>
                <a:latin typeface="Calibri"/>
              </a:rPr>
              <a:t>Dataset is genuinely hard: mean SNR ≈ </a:t>
            </a:r>
            <a:r>
              <a:rPr b="1" sz="1700">
                <a:solidFill>
                  <a:srgbClr val="2C3E50"/>
                </a:solidFill>
                <a:latin typeface="Calibri"/>
              </a:rPr>
              <a:t>−4.9 dB</a:t>
            </a:r>
            <a:r>
              <a:rPr sz="1700">
                <a:solidFill>
                  <a:srgbClr val="2C3E50"/>
                </a:solidFill>
                <a:latin typeface="Calibri"/>
              </a:rPr>
              <a:t>, mean SIR ≈ </a:t>
            </a:r>
            <a:r>
              <a:rPr b="1" sz="1700">
                <a:solidFill>
                  <a:srgbClr val="2C3E50"/>
                </a:solidFill>
                <a:latin typeface="Calibri"/>
              </a:rPr>
              <a:t>−12.0 dB</a:t>
            </a:r>
          </a:p>
          <a:p>
            <a:pPr marL="274320" indent="-274320">
              <a:spcAft>
                <a:spcPts val="1200"/>
              </a:spcAft>
            </a:pPr>
            <a:r>
              <a:rPr sz="1700">
                <a:solidFill>
                  <a:srgbClr val="16A085"/>
                </a:solidFill>
                <a:latin typeface="Calibri"/>
              </a:rPr>
              <a:t>▪  </a:t>
            </a:r>
            <a:r>
              <a:rPr sz="1700">
                <a:solidFill>
                  <a:srgbClr val="2C3E50"/>
                </a:solidFill>
                <a:latin typeface="Calibri"/>
              </a:rPr>
              <a:t>Sequential analysis reliability degrades gracefully as SNR/SIR drop; ICA collapses more sharply — mirrors the paper's own finding</a:t>
            </a:r>
          </a:p>
          <a:p>
            <a:pPr marL="274320" indent="-274320">
              <a:spcAft>
                <a:spcPts val="1200"/>
              </a:spcAft>
            </a:pPr>
            <a:r>
              <a:rPr sz="1700">
                <a:solidFill>
                  <a:srgbClr val="16A085"/>
                </a:solidFill>
                <a:latin typeface="Calibri"/>
              </a:rPr>
              <a:t>▪  </a:t>
            </a:r>
            <a:r>
              <a:rPr sz="1700">
                <a:solidFill>
                  <a:srgbClr val="2C3E50"/>
                </a:solidFill>
                <a:latin typeface="Calibri"/>
              </a:rPr>
              <a:t>Spearman ρ: SA–SNR </a:t>
            </a:r>
            <a:r>
              <a:rPr b="1" sz="1700">
                <a:solidFill>
                  <a:srgbClr val="2C3E50"/>
                </a:solidFill>
                <a:latin typeface="Calibri"/>
              </a:rPr>
              <a:t>0.87</a:t>
            </a:r>
            <a:r>
              <a:rPr sz="1700">
                <a:solidFill>
                  <a:srgbClr val="2C3E50"/>
                </a:solidFill>
                <a:latin typeface="Calibri"/>
              </a:rPr>
              <a:t> (p&lt;0.001), SA–SIR </a:t>
            </a:r>
            <a:r>
              <a:rPr b="1" sz="1700">
                <a:solidFill>
                  <a:srgbClr val="2C3E50"/>
                </a:solidFill>
                <a:latin typeface="Calibri"/>
              </a:rPr>
              <a:t>0.50</a:t>
            </a:r>
            <a:r>
              <a:rPr sz="1700">
                <a:solidFill>
                  <a:srgbClr val="2C3E50"/>
                </a:solidFill>
                <a:latin typeface="Calibri"/>
              </a:rPr>
              <a:t> (p=0.012) — both significant; ICA–SNR </a:t>
            </a:r>
            <a:r>
              <a:rPr b="1" sz="1700">
                <a:solidFill>
                  <a:srgbClr val="2C3E50"/>
                </a:solidFill>
                <a:latin typeface="Calibri"/>
              </a:rPr>
              <a:t>0.10</a:t>
            </a:r>
            <a:r>
              <a:rPr sz="1700">
                <a:solidFill>
                  <a:srgbClr val="2C3E50"/>
                </a:solidFill>
                <a:latin typeface="Calibri"/>
              </a:rPr>
              <a:t> (p=0.63), ICA–SIR </a:t>
            </a:r>
            <a:r>
              <a:rPr b="1" sz="1700">
                <a:solidFill>
                  <a:srgbClr val="2C3E50"/>
                </a:solidFill>
                <a:latin typeface="Calibri"/>
              </a:rPr>
              <a:t>0.18</a:t>
            </a:r>
            <a:r>
              <a:rPr sz="1700">
                <a:solidFill>
                  <a:srgbClr val="2C3E50"/>
                </a:solidFill>
                <a:latin typeface="Calibri"/>
              </a:rPr>
              <a:t> (p=0.40) — neither significant</a:t>
            </a:r>
          </a:p>
        </p:txBody>
      </p:sp>
      <p:sp>
        <p:nvSpPr>
          <p:cNvPr id="6" name="Rectangle 5"/>
          <p:cNvSpPr/>
          <p:nvPr/>
        </p:nvSpPr>
        <p:spPr>
          <a:xfrm>
            <a:off x="5018720" y="1873262"/>
            <a:ext cx="4210318" cy="3504667"/>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nr_sir_vs_reliability.png"/>
          <p:cNvPicPr>
            <a:picLocks noChangeAspect="1"/>
          </p:cNvPicPr>
          <p:nvPr/>
        </p:nvPicPr>
        <p:blipFill>
          <a:blip r:embed="rId2"/>
          <a:stretch>
            <a:fillRect/>
          </a:stretch>
        </p:blipFill>
        <p:spPr>
          <a:xfrm>
            <a:off x="5073584" y="1928126"/>
            <a:ext cx="4100590" cy="3394939"/>
          </a:xfrm>
          <a:prstGeom prst="rect">
            <a:avLst/>
          </a:prstGeom>
        </p:spPr>
      </p:pic>
      <p:sp>
        <p:nvSpPr>
          <p:cNvPr id="8" name="TextBox 7"/>
          <p:cNvSpPr txBox="1"/>
          <p:nvPr/>
        </p:nvSpPr>
        <p:spPr>
          <a:xfrm>
            <a:off x="5073584" y="5414505"/>
            <a:ext cx="4100590" cy="274320"/>
          </a:xfrm>
          <a:prstGeom prst="rect">
            <a:avLst/>
          </a:prstGeom>
          <a:noFill/>
        </p:spPr>
        <p:txBody>
          <a:bodyPr wrap="none">
            <a:spAutoFit/>
          </a:bodyPr>
          <a:lstStyle/>
          <a:p>
            <a:pPr algn="ctr"/>
            <a:r>
              <a:rPr sz="1100" i="1">
                <a:solidFill>
                  <a:srgbClr val="5A6B78"/>
                </a:solidFill>
                <a:latin typeface="Calibri"/>
              </a:rPr>
              <a:t>Figure 11. signal quality drives reliability</a:t>
            </a:r>
          </a:p>
        </p:txBody>
      </p:sp>
      <p:sp>
        <p:nvSpPr>
          <p:cNvPr id="9" name="Rectangle 8"/>
          <p:cNvSpPr/>
          <p:nvPr/>
        </p:nvSpPr>
        <p:spPr>
          <a:xfrm>
            <a:off x="9347911" y="2682605"/>
            <a:ext cx="2395728" cy="1885981"/>
          </a:xfrm>
          <a:prstGeom prst="rect">
            <a:avLst/>
          </a:prstGeom>
          <a:solidFill>
            <a:srgbClr val="FFFFFF"/>
          </a:solidFill>
          <a:ln w="9525">
            <a:solidFill>
              <a:srgbClr val="DDE1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eliability_correlation_matrix.png"/>
          <p:cNvPicPr>
            <a:picLocks noChangeAspect="1"/>
          </p:cNvPicPr>
          <p:nvPr/>
        </p:nvPicPr>
        <p:blipFill>
          <a:blip r:embed="rId3"/>
          <a:stretch>
            <a:fillRect/>
          </a:stretch>
        </p:blipFill>
        <p:spPr>
          <a:xfrm>
            <a:off x="9402775" y="2737469"/>
            <a:ext cx="2286000" cy="1776253"/>
          </a:xfrm>
          <a:prstGeom prst="rect">
            <a:avLst/>
          </a:prstGeom>
        </p:spPr>
      </p:pic>
      <p:sp>
        <p:nvSpPr>
          <p:cNvPr id="11" name="TextBox 10"/>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12" name="TextBox 11"/>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Discussion: why non‑blind wins, and where it struggles</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223516"/>
            <a:ext cx="11185855" cy="4113275"/>
          </a:xfrm>
          <a:prstGeom prst="rect">
            <a:avLst/>
          </a:prstGeom>
          <a:noFill/>
        </p:spPr>
        <p:txBody>
          <a:bodyPr wrap="square" anchor="t">
            <a:spAutoFit/>
          </a:bodyPr>
          <a:lstStyle/>
          <a:p>
            <a:pPr marL="274320" indent="-274320">
              <a:spcAft>
                <a:spcPts val="1200"/>
              </a:spcAft>
            </a:pPr>
            <a:r>
              <a:rPr sz="2000">
                <a:solidFill>
                  <a:srgbClr val="16A085"/>
                </a:solidFill>
                <a:latin typeface="Calibri"/>
              </a:rPr>
              <a:t>▪  </a:t>
            </a:r>
            <a:r>
              <a:rPr sz="2000">
                <a:solidFill>
                  <a:srgbClr val="2C3E50"/>
                </a:solidFill>
                <a:latin typeface="Calibri"/>
              </a:rPr>
              <a:t>ICA assumes as many independent sources as channels — but real recordings have several MECG dipole components </a:t>
            </a:r>
            <a:r>
              <a:rPr i="1" sz="2000">
                <a:solidFill>
                  <a:srgbClr val="2C3E50"/>
                </a:solidFill>
                <a:latin typeface="Calibri"/>
              </a:rPr>
              <a:t>plus</a:t>
            </a:r>
            <a:r>
              <a:rPr sz="2000">
                <a:solidFill>
                  <a:srgbClr val="2C3E50"/>
                </a:solidFill>
                <a:latin typeface="Calibri"/>
              </a:rPr>
              <a:t> multiple independent EMG/motion sources </a:t>
            </a:r>
            <a:r>
              <a:rPr i="1" sz="2000">
                <a:solidFill>
                  <a:srgbClr val="2C3E50"/>
                </a:solidFill>
                <a:latin typeface="Calibri"/>
              </a:rPr>
              <a:t>plus</a:t>
            </a:r>
            <a:r>
              <a:rPr sz="2000">
                <a:solidFill>
                  <a:srgbClr val="2C3E50"/>
                </a:solidFill>
                <a:latin typeface="Calibri"/>
              </a:rPr>
              <a:t> the FECG</a:t>
            </a:r>
          </a:p>
          <a:p>
            <a:pPr marL="274320" indent="-274320">
              <a:spcAft>
                <a:spcPts val="1200"/>
              </a:spcAft>
            </a:pPr>
            <a:r>
              <a:rPr sz="2000">
                <a:solidFill>
                  <a:srgbClr val="16A085"/>
                </a:solidFill>
                <a:latin typeface="Calibri"/>
              </a:rPr>
              <a:t>▪  </a:t>
            </a:r>
            <a:r>
              <a:rPr sz="2000">
                <a:solidFill>
                  <a:srgbClr val="2C3E50"/>
                </a:solidFill>
                <a:latin typeface="Calibri"/>
              </a:rPr>
              <a:t>Sequential analysis sidesteps this by exploiting known structure (periodicity, morphology) instead of blind independence</a:t>
            </a:r>
          </a:p>
          <a:p>
            <a:pPr marL="274320" indent="-274320">
              <a:spcAft>
                <a:spcPts val="1200"/>
              </a:spcAft>
            </a:pPr>
            <a:r>
              <a:rPr sz="2000">
                <a:solidFill>
                  <a:srgbClr val="16A085"/>
                </a:solidFill>
                <a:latin typeface="Calibri"/>
              </a:rPr>
              <a:t>▪  </a:t>
            </a:r>
            <a:r>
              <a:rPr sz="2000">
                <a:solidFill>
                  <a:srgbClr val="2C3E50"/>
                </a:solidFill>
                <a:latin typeface="Calibri"/>
              </a:rPr>
              <a:t>Limitations, honestly: 7/25 records needed short NaN‑gap interpolation; a handful of records (a18, a09, a02, a11, a15) show markedly lower recall</a:t>
            </a:r>
          </a:p>
          <a:p>
            <a:pPr marL="274320" indent="-274320">
              <a:spcAft>
                <a:spcPts val="1200"/>
              </a:spcAft>
            </a:pPr>
            <a:r>
              <a:rPr sz="2000">
                <a:solidFill>
                  <a:srgbClr val="16A085"/>
                </a:solidFill>
                <a:latin typeface="Calibri"/>
              </a:rPr>
              <a:t>▪  </a:t>
            </a:r>
            <a:r>
              <a:rPr sz="2000">
                <a:solidFill>
                  <a:srgbClr val="2C3E50"/>
                </a:solidFill>
                <a:latin typeface="Calibri"/>
              </a:rPr>
              <a:t>Consistent with the paper's own note: FECG amplitude is reduced around 28–32 weeks gestation (vernix caseosa)</a:t>
            </a:r>
          </a:p>
        </p:txBody>
      </p:sp>
      <p:sp>
        <p:nvSpPr>
          <p:cNvPr id="6" name="TextBox 5"/>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7" name="TextBox 6"/>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Conclusions</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378456"/>
            <a:ext cx="11185855" cy="3958336"/>
          </a:xfrm>
          <a:prstGeom prst="rect">
            <a:avLst/>
          </a:prstGeom>
          <a:noFill/>
        </p:spPr>
        <p:txBody>
          <a:bodyPr wrap="square" anchor="t">
            <a:spAutoFit/>
          </a:bodyPr>
          <a:lstStyle/>
          <a:p>
            <a:pPr marL="274320" indent="-274320">
              <a:spcAft>
                <a:spcPts val="1200"/>
              </a:spcAft>
            </a:pPr>
            <a:r>
              <a:rPr sz="2000">
                <a:solidFill>
                  <a:srgbClr val="16A085"/>
                </a:solidFill>
                <a:latin typeface="Calibri"/>
              </a:rPr>
              <a:t>▪  </a:t>
            </a:r>
            <a:r>
              <a:rPr sz="2000">
                <a:solidFill>
                  <a:srgbClr val="2C3E50"/>
                </a:solidFill>
                <a:latin typeface="Calibri"/>
              </a:rPr>
              <a:t>Thesis supported on this dataset: non‑blind sequential analysis is </a:t>
            </a:r>
            <a:r>
              <a:rPr b="1" sz="2000">
                <a:solidFill>
                  <a:srgbClr val="2C3E50"/>
                </a:solidFill>
                <a:latin typeface="Calibri"/>
              </a:rPr>
              <a:t>both more reliable and more accurate</a:t>
            </a:r>
            <a:r>
              <a:rPr sz="2000">
                <a:solidFill>
                  <a:srgbClr val="2C3E50"/>
                </a:solidFill>
                <a:latin typeface="Calibri"/>
              </a:rPr>
              <a:t> against ground truth than blind ICA</a:t>
            </a:r>
          </a:p>
          <a:p>
            <a:pPr marL="274320" indent="-274320">
              <a:spcAft>
                <a:spcPts val="1200"/>
              </a:spcAft>
            </a:pPr>
            <a:r>
              <a:rPr sz="2000">
                <a:solidFill>
                  <a:srgbClr val="16A085"/>
                </a:solidFill>
                <a:latin typeface="Calibri"/>
              </a:rPr>
              <a:t>▪  </a:t>
            </a:r>
            <a:r>
              <a:rPr sz="2000">
                <a:solidFill>
                  <a:srgbClr val="2C3E50"/>
                </a:solidFill>
                <a:latin typeface="Calibri"/>
              </a:rPr>
              <a:t>Gap is largest precisely where it matters most: low‑SNR/SIR recordings</a:t>
            </a:r>
          </a:p>
          <a:p>
            <a:pPr marL="274320" indent="-274320">
              <a:spcAft>
                <a:spcPts val="1200"/>
              </a:spcAft>
            </a:pPr>
            <a:r>
              <a:rPr sz="2000">
                <a:solidFill>
                  <a:srgbClr val="16A085"/>
                </a:solidFill>
                <a:latin typeface="Calibri"/>
              </a:rPr>
              <a:t>▪  </a:t>
            </a:r>
            <a:r>
              <a:rPr sz="2000">
                <a:solidFill>
                  <a:srgbClr val="2C3E50"/>
                </a:solidFill>
                <a:latin typeface="Calibri"/>
              </a:rPr>
              <a:t>Practical relevance: viable direction for affordable, non‑invasive, potentially home‑based fetal monitoring</a:t>
            </a:r>
          </a:p>
          <a:p>
            <a:pPr marL="274320" indent="-274320">
              <a:spcAft>
                <a:spcPts val="1200"/>
              </a:spcAft>
            </a:pPr>
            <a:r>
              <a:rPr sz="2000">
                <a:solidFill>
                  <a:srgbClr val="16A085"/>
                </a:solidFill>
                <a:latin typeface="Calibri"/>
              </a:rPr>
              <a:t>▪  </a:t>
            </a:r>
            <a:r>
              <a:rPr sz="2000">
                <a:solidFill>
                  <a:srgbClr val="2C3E50"/>
                </a:solidFill>
                <a:latin typeface="Calibri"/>
              </a:rPr>
              <a:t>Future work: reduced electrode montages, dynamic MECG windows accounting for heart‑rate‑dependent QT variation, improved fetal‑QRS detector for the low‑recall records</a:t>
            </a:r>
          </a:p>
        </p:txBody>
      </p:sp>
      <p:sp>
        <p:nvSpPr>
          <p:cNvPr id="6" name="TextBox 5"/>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7" name="TextBox 6"/>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85855" cy="777240"/>
          </a:xfrm>
          <a:prstGeom prst="rect">
            <a:avLst/>
          </a:prstGeom>
          <a:noFill/>
        </p:spPr>
        <p:txBody>
          <a:bodyPr wrap="square">
            <a:spAutoFit/>
          </a:bodyPr>
          <a:lstStyle/>
          <a:p>
            <a:r>
              <a:rPr sz="2800" b="1">
                <a:solidFill>
                  <a:srgbClr val="2C3E50"/>
                </a:solidFill>
                <a:latin typeface="Calibri"/>
              </a:rPr>
              <a:t>Thank you / questions</a:t>
            </a:r>
          </a:p>
        </p:txBody>
      </p:sp>
      <p:sp>
        <p:nvSpPr>
          <p:cNvPr id="4" name="Rectangle 3"/>
          <p:cNvSpPr/>
          <p:nvPr/>
        </p:nvSpPr>
        <p:spPr>
          <a:xfrm>
            <a:off x="502920" y="987552"/>
            <a:ext cx="1005840" cy="3810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439972"/>
            <a:ext cx="11185855" cy="2896819"/>
          </a:xfrm>
          <a:prstGeom prst="rect">
            <a:avLst/>
          </a:prstGeom>
          <a:noFill/>
        </p:spPr>
        <p:txBody>
          <a:bodyPr wrap="square" anchor="t">
            <a:spAutoFit/>
          </a:bodyPr>
          <a:lstStyle/>
          <a:p>
            <a:pPr marL="274320" indent="-274320">
              <a:spcAft>
                <a:spcPts val="1200"/>
              </a:spcAft>
            </a:pPr>
            <a:r>
              <a:rPr sz="2000">
                <a:solidFill>
                  <a:srgbClr val="16A085"/>
                </a:solidFill>
                <a:latin typeface="Calibri"/>
              </a:rPr>
              <a:t>▪  </a:t>
            </a:r>
            <a:r>
              <a:rPr sz="2000">
                <a:solidFill>
                  <a:srgbClr val="2C3E50"/>
                </a:solidFill>
                <a:latin typeface="Calibri"/>
              </a:rPr>
              <a:t>Thank you</a:t>
            </a:r>
          </a:p>
          <a:p>
            <a:pPr marL="274320" indent="-274320">
              <a:spcAft>
                <a:spcPts val="1200"/>
              </a:spcAft>
            </a:pPr>
            <a:r>
              <a:rPr sz="2000">
                <a:solidFill>
                  <a:srgbClr val="16A085"/>
                </a:solidFill>
                <a:latin typeface="Calibri"/>
              </a:rPr>
              <a:t>▪  </a:t>
            </a:r>
            <a:r>
              <a:rPr sz="2000">
                <a:solidFill>
                  <a:srgbClr val="2C3E50"/>
                </a:solidFill>
                <a:latin typeface="Calibri"/>
              </a:rPr>
              <a:t>Questions?</a:t>
            </a:r>
          </a:p>
        </p:txBody>
      </p:sp>
      <p:sp>
        <p:nvSpPr>
          <p:cNvPr id="6" name="TextBox 5"/>
          <p:cNvSpPr txBox="1"/>
          <p:nvPr/>
        </p:nvSpPr>
        <p:spPr>
          <a:xfrm>
            <a:off x="502920" y="6446520"/>
            <a:ext cx="10637215" cy="320040"/>
          </a:xfrm>
          <a:prstGeom prst="rect">
            <a:avLst/>
          </a:prstGeom>
          <a:noFill/>
        </p:spPr>
        <p:txBody>
          <a:bodyPr wrap="square">
            <a:spAutoFit/>
          </a:bodyPr>
          <a:lstStyle/>
          <a:p>
            <a:r>
              <a:rPr sz="900" i="1">
                <a:solidFill>
                  <a:srgbClr val="5A6B78"/>
                </a:solidFill>
                <a:latin typeface="Calibri"/>
              </a:rPr>
              <a:t>Robust Fetal ECG Detection -- Sequential Analysis vs. ICA</a:t>
            </a:r>
          </a:p>
        </p:txBody>
      </p:sp>
      <p:sp>
        <p:nvSpPr>
          <p:cNvPr id="7" name="TextBox 6"/>
          <p:cNvSpPr txBox="1"/>
          <p:nvPr/>
        </p:nvSpPr>
        <p:spPr>
          <a:xfrm>
            <a:off x="11140135" y="6446520"/>
            <a:ext cx="548640" cy="320040"/>
          </a:xfrm>
          <a:prstGeom prst="rect">
            <a:avLst/>
          </a:prstGeom>
          <a:noFill/>
        </p:spPr>
        <p:txBody>
          <a:bodyPr wrap="none">
            <a:spAutoFit/>
          </a:bodyPr>
          <a:lstStyle/>
          <a:p>
            <a:pPr algn="r"/>
            <a:r>
              <a:rPr sz="900">
                <a:solidFill>
                  <a:srgbClr val="5A6B78"/>
                </a:solidFill>
                <a:latin typeface="Calibr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