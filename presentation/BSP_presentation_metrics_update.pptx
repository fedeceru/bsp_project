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76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33" autoAdjust="0"/>
  </p:normalViewPr>
  <p:slideViewPr>
    <p:cSldViewPr snapToGrid="0" snapToObjects="1">
      <p:cViewPr varScale="1">
        <p:scale>
          <a:sx n="111" d="100"/>
          <a:sy n="111" d="100"/>
        </p:scale>
        <p:origin x="86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0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E0EE5-0156-72C5-85E6-19E22FEF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9E2F2-160E-42F3-51C1-24F71DFC8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7B47E-2493-F33C-C912-862AF0C9A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9E53D-E4F1-675D-5EA0-57B2AAB51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6236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C3E50"/>
                </a:solidFill>
                <a:latin typeface="Calibri"/>
              </a:rPr>
              <a:t>A Robust Fetal ECG Detection Method for Abdominal Recordings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408679"/>
            <a:ext cx="1463040" cy="508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91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i="1" dirty="0">
                <a:solidFill>
                  <a:srgbClr val="5A6B78"/>
                </a:solidFill>
                <a:latin typeface="Calibri"/>
              </a:rPr>
              <a:t>Reproducing and evaluating Martens et al. (2007) on the </a:t>
            </a:r>
            <a:r>
              <a:rPr sz="1900" i="1" dirty="0" err="1">
                <a:solidFill>
                  <a:srgbClr val="5A6B78"/>
                </a:solidFill>
                <a:latin typeface="Calibri"/>
              </a:rPr>
              <a:t>CinC</a:t>
            </a:r>
            <a:r>
              <a:rPr sz="1900" i="1" dirty="0">
                <a:solidFill>
                  <a:srgbClr val="5A6B78"/>
                </a:solidFill>
                <a:latin typeface="Calibri"/>
              </a:rPr>
              <a:t> 2013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2C3E50"/>
                </a:solidFill>
                <a:latin typeface="Calibri"/>
              </a:rPr>
              <a:t>Federico Cerutti - 85644A</a:t>
            </a:r>
          </a:p>
          <a:p>
            <a:r>
              <a:rPr sz="1300" dirty="0">
                <a:solidFill>
                  <a:srgbClr val="5A6B78"/>
                </a:solidFill>
                <a:latin typeface="Calibri"/>
              </a:rPr>
              <a:t>Biomedical Signal Processing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901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 err="1">
                <a:solidFill>
                  <a:srgbClr val="2C3E50"/>
                </a:solidFill>
                <a:latin typeface="Calibri"/>
              </a:rPr>
              <a:t>Introduction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6858" y="1693690"/>
            <a:ext cx="6578524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Fetal cardiac activity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is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a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key indicator of fetal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well‑being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</a:t>
            </a:r>
            <a:r>
              <a:rPr lang="it-IT" sz="1300" dirty="0">
                <a:solidFill>
                  <a:srgbClr val="16A085"/>
                </a:solidFill>
                <a:latin typeface="Calibri"/>
              </a:rPr>
              <a:t> 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R</a:t>
            </a:r>
            <a:r>
              <a:rPr lang="it-IT" sz="1300" dirty="0">
                <a:solidFill>
                  <a:srgbClr val="2C3E50"/>
                </a:solidFill>
              </a:rPr>
              <a:t>outine</a:t>
            </a:r>
            <a:r>
              <a:rPr lang="it-IT" sz="1300" dirty="0">
                <a:solidFill>
                  <a:srgbClr val="16A085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Doppler ultrasound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only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provides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the </a:t>
            </a:r>
            <a:r>
              <a:rPr lang="it-IT" sz="1300" b="1" dirty="0" err="1">
                <a:solidFill>
                  <a:srgbClr val="2C3E50"/>
                </a:solidFill>
                <a:latin typeface="Calibri"/>
              </a:rPr>
              <a:t>Fetal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heart rate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(FHR)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not morphology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Fetal ECG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(FECG)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carries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PR/QRS/ST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morphology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,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which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are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directly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linked to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fetal oxygenation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Abdominal FECG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is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a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non‑invasive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method</a:t>
            </a:r>
            <a:r>
              <a:rPr lang="it-IT"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usable throughout pregnancy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and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2C3E50"/>
                </a:solidFill>
                <a:latin typeface="Calibri"/>
              </a:rPr>
              <a:t>labour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(vs.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invasive scalp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electrode, </a:t>
            </a:r>
            <a:r>
              <a:rPr sz="1300" dirty="0" err="1">
                <a:solidFill>
                  <a:srgbClr val="2C3E50"/>
                </a:solidFill>
                <a:latin typeface="Calibri"/>
              </a:rPr>
              <a:t>labour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‑only)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B78"/>
                </a:solidFill>
                <a:latin typeface="Calibri"/>
              </a:rPr>
              <a:t>2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4B5D112-4728-263C-CD7E-DAC876A63184}"/>
              </a:ext>
            </a:extLst>
          </p:cNvPr>
          <p:cNvSpPr/>
          <p:nvPr/>
        </p:nvSpPr>
        <p:spPr>
          <a:xfrm>
            <a:off x="7772229" y="2626136"/>
            <a:ext cx="3642913" cy="174967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075387A-2165-3D0D-8CA8-F9F960F6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49" y="2703185"/>
            <a:ext cx="3513069" cy="1595578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47D2C1C4-710C-1587-FC7B-0C7CA2BD5F84}"/>
              </a:ext>
            </a:extLst>
          </p:cNvPr>
          <p:cNvSpPr txBox="1"/>
          <p:nvPr/>
        </p:nvSpPr>
        <p:spPr>
          <a:xfrm>
            <a:off x="8274228" y="4402034"/>
            <a:ext cx="26389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</a:t>
            </a:r>
            <a:r>
              <a:rPr lang="it-IT" sz="1100" i="1" dirty="0">
                <a:solidFill>
                  <a:srgbClr val="5A6B78"/>
                </a:solidFill>
                <a:latin typeface="Calibri"/>
              </a:rPr>
              <a:t>0</a:t>
            </a:r>
            <a:r>
              <a:rPr sz="1100" i="1" dirty="0">
                <a:solidFill>
                  <a:srgbClr val="5A6B78"/>
                </a:solidFill>
                <a:latin typeface="Calibri"/>
              </a:rPr>
              <a:t>. </a:t>
            </a:r>
            <a:r>
              <a:rPr lang="it-IT" sz="1100" i="1" dirty="0">
                <a:solidFill>
                  <a:srgbClr val="5A6B78"/>
                </a:solidFill>
                <a:latin typeface="Calibri"/>
              </a:rPr>
              <a:t>nomenclature of the ECG.</a:t>
            </a:r>
            <a:endParaRPr sz="1100" i="1" dirty="0">
              <a:solidFill>
                <a:srgbClr val="5A6B78"/>
              </a:solidFill>
              <a:latin typeface="Calibri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1C191650-A37A-C547-5069-FF02E8E654BE}"/>
              </a:ext>
            </a:extLst>
          </p:cNvPr>
          <p:cNvSpPr txBox="1"/>
          <p:nvPr/>
        </p:nvSpPr>
        <p:spPr>
          <a:xfrm>
            <a:off x="776858" y="4195285"/>
            <a:ext cx="6578524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FECG amplitude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tiny</a:t>
            </a:r>
            <a:r>
              <a:rPr sz="1300" dirty="0">
                <a:solidFill>
                  <a:srgbClr val="2C3E50"/>
                </a:solidFill>
                <a:latin typeface="Calibri"/>
              </a:rPr>
              <a:t> (tens of µV)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Buried under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baseline wander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power‑line interference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</a:t>
            </a:r>
            <a:r>
              <a:rPr sz="1300" i="1" u="sng" dirty="0">
                <a:solidFill>
                  <a:srgbClr val="2C3E50"/>
                </a:solidFill>
                <a:latin typeface="Calibri"/>
              </a:rPr>
              <a:t>EMG/motion artifacts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Above all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the </a:t>
            </a:r>
            <a:r>
              <a:rPr sz="1300" b="1" dirty="0">
                <a:solidFill>
                  <a:srgbClr val="2C3E50"/>
                </a:solidFill>
                <a:latin typeface="Calibri"/>
              </a:rPr>
              <a:t>mother's ECG (MECG)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300" dirty="0" err="1">
                <a:solidFill>
                  <a:srgbClr val="2C3E50"/>
                </a:solidFill>
                <a:latin typeface="Calibri"/>
              </a:rPr>
              <a:t>is</a:t>
            </a:r>
            <a:r>
              <a:rPr lang="it-IT" sz="13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dirty="0">
                <a:solidFill>
                  <a:srgbClr val="2C3E50"/>
                </a:solidFill>
                <a:latin typeface="Calibri"/>
              </a:rPr>
              <a:t>an order of magnitude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larger</a:t>
            </a:r>
            <a:r>
              <a:rPr sz="1300" dirty="0">
                <a:solidFill>
                  <a:srgbClr val="2C3E50"/>
                </a:solidFill>
                <a:latin typeface="Calibri"/>
              </a:rPr>
              <a:t>, same electrodes</a:t>
            </a:r>
          </a:p>
          <a:p>
            <a:pPr marL="274320" indent="-274320">
              <a:spcAft>
                <a:spcPts val="1200"/>
              </a:spcAft>
            </a:pPr>
            <a:r>
              <a:rPr sz="13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300" i="1" dirty="0">
                <a:solidFill>
                  <a:srgbClr val="2C3E50"/>
                </a:solidFill>
                <a:latin typeface="Calibri"/>
              </a:rPr>
              <a:t>Goal</a:t>
            </a:r>
            <a:r>
              <a:rPr sz="1300" dirty="0">
                <a:solidFill>
                  <a:srgbClr val="2C3E50"/>
                </a:solidFill>
                <a:latin typeface="Calibri"/>
              </a:rPr>
              <a:t>: strip away everything that isn't the fetal heartbeat</a:t>
            </a: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22056F6-3E1F-15D1-5CCA-9053748D20B9}"/>
              </a:ext>
            </a:extLst>
          </p:cNvPr>
          <p:cNvSpPr txBox="1"/>
          <p:nvPr/>
        </p:nvSpPr>
        <p:spPr>
          <a:xfrm>
            <a:off x="668957" y="1368767"/>
            <a:ext cx="1647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2C3E50"/>
                </a:solidFill>
                <a:latin typeface="Calibri"/>
              </a:rPr>
              <a:t>Clinical </a:t>
            </a:r>
            <a:r>
              <a:rPr lang="it-IT" b="1" dirty="0" err="1">
                <a:solidFill>
                  <a:srgbClr val="2C3E50"/>
                </a:solidFill>
                <a:latin typeface="Calibri"/>
              </a:rPr>
              <a:t>Context</a:t>
            </a:r>
            <a:endParaRPr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88D26A35-4FCC-5442-A87E-E4003D71F976}"/>
              </a:ext>
            </a:extLst>
          </p:cNvPr>
          <p:cNvSpPr txBox="1"/>
          <p:nvPr/>
        </p:nvSpPr>
        <p:spPr>
          <a:xfrm>
            <a:off x="668957" y="3865272"/>
            <a:ext cx="1125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2C3E50"/>
                </a:solidFill>
                <a:latin typeface="Calibri"/>
              </a:rPr>
              <a:t>Challenge</a:t>
            </a:r>
            <a:endParaRPr b="1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Two paradigms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1809" y="2227210"/>
            <a:ext cx="4373216" cy="423505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Blind (ICA / BSS)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3599" y="2227210"/>
            <a:ext cx="4366591" cy="423505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Non‑blind (Sequential Analysis)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363" y="2941883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No prior knowledge assumed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Relies purely on statistical independence of sources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As many independent sources as channels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76" y="2941883"/>
            <a:ext cx="402336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Exploits a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priori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knowledge of each interferer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Uses periodicity, morphology, frequency content</a:t>
            </a:r>
          </a:p>
          <a:p>
            <a:pPr marL="201168" indent="-201168">
              <a:spcAft>
                <a:spcPts val="1000"/>
              </a:spcAft>
            </a:pPr>
            <a:r>
              <a:rPr sz="1500" dirty="0">
                <a:solidFill>
                  <a:srgbClr val="2C3E50"/>
                </a:solidFill>
                <a:latin typeface="Calibri"/>
              </a:rPr>
              <a:t>▪  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T</a:t>
            </a:r>
            <a:r>
              <a:rPr sz="1500" dirty="0" err="1">
                <a:solidFill>
                  <a:srgbClr val="2C3E50"/>
                </a:solidFill>
                <a:latin typeface="Calibri"/>
              </a:rPr>
              <a:t>hesis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more robust, especially at low 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SNR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763" y="2164643"/>
            <a:ext cx="4480560" cy="27432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86370" y="2164643"/>
            <a:ext cx="4480561" cy="27432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30087" y="3303634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 dirty="0">
                <a:solidFill>
                  <a:srgbClr val="5A6B78"/>
                </a:solidFill>
                <a:latin typeface="Calibri"/>
              </a:rPr>
              <a:t>vs.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 dirty="0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3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>
            <a:cxnSpLocks/>
            <a:endCxn id="17" idx="3"/>
          </p:cNvCxnSpPr>
          <p:nvPr/>
        </p:nvCxnSpPr>
        <p:spPr>
          <a:xfrm>
            <a:off x="502920" y="3108960"/>
            <a:ext cx="11345875" cy="0"/>
          </a:xfrm>
          <a:prstGeom prst="line">
            <a:avLst/>
          </a:prstGeom>
          <a:ln w="1905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3429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Baseline Wander
Remover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1219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31728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PLI
Canceller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9518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0027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Sampling‑Rate
Increaser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7817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4006" y="24048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A6B78"/>
                </a:solidFill>
                <a:latin typeface="Calibri"/>
              </a:rPr>
              <a:t>[Maternal QRS Detector]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8326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MECG
Canceller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6116" y="2880360"/>
            <a:ext cx="594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C3E50"/>
                </a:solidFill>
                <a:latin typeface="Calibri"/>
              </a:rPr>
              <a:t>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2305" y="24048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A6B78"/>
                </a:solidFill>
                <a:latin typeface="Calibri"/>
              </a:rPr>
              <a:t>[Fetal QRS Detector]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6625" y="2788920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FECG
Extractor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34395" y="288036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74C3C"/>
                </a:solidFill>
                <a:latin typeface="Calibri"/>
              </a:rPr>
              <a:t>S6
+FHR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11185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rgbClr val="2C3E50"/>
                </a:solidFill>
                <a:latin typeface="Calibri"/>
              </a:rPr>
              <a:t>Note: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signals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were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originally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sampled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600" dirty="0" err="1">
                <a:solidFill>
                  <a:srgbClr val="2C3E50"/>
                </a:solidFill>
                <a:latin typeface="Calibri"/>
              </a:rPr>
              <a:t>at</a:t>
            </a:r>
            <a:r>
              <a:rPr lang="it-IT"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2C3E50"/>
                </a:solidFill>
                <a:latin typeface="Calibri"/>
              </a:rPr>
              <a:t>1000 Hz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→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upsampled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to </a:t>
            </a:r>
            <a:r>
              <a:rPr sz="1600" b="1" dirty="0">
                <a:solidFill>
                  <a:srgbClr val="2C3E50"/>
                </a:solidFill>
                <a:latin typeface="Calibri"/>
              </a:rPr>
              <a:t>2000 Hz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for MECG cancellation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4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3F62-D5E4-AB1F-3433-A28FDE11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A7F7C2-06BF-A174-5216-DB8EC7288B68}"/>
              </a:ext>
            </a:extLst>
          </p:cNvPr>
          <p:cNvSpPr/>
          <p:nvPr/>
        </p:nvSpPr>
        <p:spPr>
          <a:xfrm>
            <a:off x="2371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70B8F-B453-4719-8423-BC147A4F7E4B}"/>
              </a:ext>
            </a:extLst>
          </p:cNvPr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rgbClr val="2C3E50"/>
                </a:solidFill>
                <a:latin typeface="Calibri"/>
              </a:rPr>
              <a:t>Dataset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EA774-74F7-8114-546F-8FC58ACF0B52}"/>
              </a:ext>
            </a:extLst>
          </p:cNvPr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A30271-7BE2-9572-5C45-684147ED2600}"/>
              </a:ext>
            </a:extLst>
          </p:cNvPr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2E09CC-2A85-8299-40A8-F170B99297A9}"/>
              </a:ext>
            </a:extLst>
          </p:cNvPr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5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B4F211BD-411D-6F2C-D7B6-B76B68CAF436}"/>
              </a:ext>
            </a:extLst>
          </p:cNvPr>
          <p:cNvSpPr/>
          <p:nvPr/>
        </p:nvSpPr>
        <p:spPr>
          <a:xfrm>
            <a:off x="5892991" y="2133975"/>
            <a:ext cx="5795784" cy="3021831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mmagine 21" descr="Figure 1">
            <a:extLst>
              <a:ext uri="{FF2B5EF4-FFF2-40B4-BE49-F238E27FC236}">
                <a16:creationId xmlns:a16="http://schemas.microsoft.com/office/drawing/2014/main" id="{FED7D288-8D8D-D437-9A94-2E69D3D2F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218" y="2191222"/>
            <a:ext cx="5717330" cy="2907336"/>
          </a:xfrm>
          <a:prstGeom prst="rect">
            <a:avLst/>
          </a:prstGeom>
        </p:spPr>
      </p:pic>
      <p:sp>
        <p:nvSpPr>
          <p:cNvPr id="26" name="TextBox 4">
            <a:extLst>
              <a:ext uri="{FF2B5EF4-FFF2-40B4-BE49-F238E27FC236}">
                <a16:creationId xmlns:a16="http://schemas.microsoft.com/office/drawing/2014/main" id="{AC2241CF-2391-494C-7C93-CE3F9F03BA63}"/>
              </a:ext>
            </a:extLst>
          </p:cNvPr>
          <p:cNvSpPr txBox="1"/>
          <p:nvPr/>
        </p:nvSpPr>
        <p:spPr>
          <a:xfrm>
            <a:off x="502920" y="2452256"/>
            <a:ext cx="4250624" cy="2385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Sourced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from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b="1" dirty="0">
                <a:solidFill>
                  <a:srgbClr val="2C3E50"/>
                </a:solidFill>
                <a:latin typeface="Calibri"/>
              </a:rPr>
              <a:t>The 2013 </a:t>
            </a:r>
            <a:r>
              <a:rPr lang="it-IT" sz="1700" b="1" dirty="0" err="1">
                <a:solidFill>
                  <a:srgbClr val="2C3E50"/>
                </a:solidFill>
                <a:latin typeface="Calibri"/>
              </a:rPr>
              <a:t>PhysioNet</a:t>
            </a:r>
            <a:r>
              <a:rPr lang="it-IT" sz="1700" b="1" dirty="0">
                <a:solidFill>
                  <a:srgbClr val="2C3E50"/>
                </a:solidFill>
                <a:latin typeface="Calibri"/>
              </a:rPr>
              <a:t>/</a:t>
            </a:r>
            <a:r>
              <a:rPr lang="it-IT" sz="1700" b="1" dirty="0" err="1">
                <a:solidFill>
                  <a:srgbClr val="2C3E50"/>
                </a:solidFill>
                <a:latin typeface="Calibri"/>
              </a:rPr>
              <a:t>CinC</a:t>
            </a:r>
            <a:r>
              <a:rPr lang="it-IT" sz="1700" b="1" dirty="0">
                <a:solidFill>
                  <a:srgbClr val="2C3E50"/>
                </a:solidFill>
                <a:latin typeface="Calibri"/>
              </a:rPr>
              <a:t> Challenge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 </a:t>
            </a:r>
            <a:endParaRPr sz="1700" b="1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Data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structure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1 minute recordings</a:t>
            </a:r>
            <a:r>
              <a:rPr lang="it-IT" sz="1700" dirty="0">
                <a:solidFill>
                  <a:srgbClr val="2C3E50"/>
                </a:solidFill>
              </a:rPr>
              <a:t>, 4 non-invasive </a:t>
            </a:r>
            <a:r>
              <a:rPr lang="it-IT" sz="1700" dirty="0" err="1">
                <a:solidFill>
                  <a:srgbClr val="2C3E50"/>
                </a:solidFill>
              </a:rPr>
              <a:t>addominal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channels</a:t>
            </a:r>
            <a:endParaRPr sz="1700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</a:rPr>
              <a:t>Sampling frequency</a:t>
            </a:r>
            <a:r>
              <a:rPr lang="it-IT" sz="1700" dirty="0">
                <a:solidFill>
                  <a:srgbClr val="2C3E50"/>
                </a:solidFill>
              </a:rPr>
              <a:t>: 1000 Hz</a:t>
            </a:r>
          </a:p>
          <a:p>
            <a:pPr marL="274320" indent="-274320">
              <a:spcAft>
                <a:spcPts val="1200"/>
              </a:spcAft>
            </a:pPr>
            <a:r>
              <a:rPr lang="it-IT" sz="1700" dirty="0">
                <a:solidFill>
                  <a:srgbClr val="16A085"/>
                </a:solidFill>
              </a:rPr>
              <a:t>▪  </a:t>
            </a:r>
            <a:r>
              <a:rPr lang="it-IT" sz="1700" i="1" dirty="0">
                <a:solidFill>
                  <a:srgbClr val="2C3E50"/>
                </a:solidFill>
              </a:rPr>
              <a:t>GT </a:t>
            </a:r>
            <a:r>
              <a:rPr lang="it-IT" sz="1700" i="1" dirty="0" err="1">
                <a:solidFill>
                  <a:srgbClr val="2C3E50"/>
                </a:solidFill>
              </a:rPr>
              <a:t>annotations</a:t>
            </a:r>
            <a:r>
              <a:rPr lang="it-IT" sz="1700" dirty="0">
                <a:solidFill>
                  <a:srgbClr val="2C3E50"/>
                </a:solidFill>
              </a:rPr>
              <a:t>: </a:t>
            </a:r>
            <a:r>
              <a:rPr lang="it-IT" sz="1700" dirty="0" err="1">
                <a:solidFill>
                  <a:srgbClr val="2C3E50"/>
                </a:solidFill>
              </a:rPr>
              <a:t>spatial</a:t>
            </a:r>
            <a:r>
              <a:rPr lang="it-IT" sz="1700" dirty="0">
                <a:solidFill>
                  <a:srgbClr val="2C3E50"/>
                </a:solidFill>
              </a:rPr>
              <a:t> locations of </a:t>
            </a:r>
            <a:r>
              <a:rPr lang="it-IT" sz="1700" dirty="0" err="1">
                <a:solidFill>
                  <a:srgbClr val="2C3E50"/>
                </a:solidFill>
              </a:rPr>
              <a:t>each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fetal</a:t>
            </a:r>
            <a:r>
              <a:rPr lang="it-IT" sz="1700" dirty="0">
                <a:solidFill>
                  <a:srgbClr val="2C3E50"/>
                </a:solidFill>
              </a:rPr>
              <a:t> QRS </a:t>
            </a:r>
            <a:r>
              <a:rPr lang="it-IT" sz="1700" dirty="0" err="1">
                <a:solidFill>
                  <a:srgbClr val="2C3E50"/>
                </a:solidFill>
              </a:rPr>
              <a:t>complex</a:t>
            </a:r>
            <a:r>
              <a:rPr lang="it-IT" sz="1700" dirty="0">
                <a:solidFill>
                  <a:srgbClr val="2C3E50"/>
                </a:solidFill>
              </a:rPr>
              <a:t> are </a:t>
            </a:r>
            <a:r>
              <a:rPr lang="it-IT" sz="1700" dirty="0" err="1">
                <a:solidFill>
                  <a:srgbClr val="2C3E50"/>
                </a:solidFill>
              </a:rPr>
              <a:t>included</a:t>
            </a:r>
            <a:endParaRPr lang="it-IT" sz="1700" dirty="0">
              <a:solidFill>
                <a:srgbClr val="2C3E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21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Stage 1–2: 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BW </a:t>
            </a:r>
            <a:r>
              <a:rPr lang="it-IT" sz="2800" b="1" dirty="0" err="1">
                <a:solidFill>
                  <a:srgbClr val="2C3E50"/>
                </a:solidFill>
                <a:latin typeface="Calibri"/>
              </a:rPr>
              <a:t>removal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2C3E50"/>
                </a:solidFill>
                <a:latin typeface="Calibri"/>
              </a:rPr>
              <a:t>+ 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PLI </a:t>
            </a:r>
            <a:r>
              <a:rPr lang="it-IT" sz="2800" b="1" dirty="0" err="1">
                <a:solidFill>
                  <a:srgbClr val="2C3E50"/>
                </a:solidFill>
                <a:latin typeface="Calibri"/>
              </a:rPr>
              <a:t>canceller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489591"/>
            <a:ext cx="4250624" cy="2492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Baseline wander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removal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linear‑phase FIR high‑pass, 3 Hz cutoff, Hamming window</a:t>
            </a:r>
            <a:endParaRPr sz="1700" b="1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Power‑line interference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canceller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adaptive PLL‑style canceller with a QRS‑blocking mask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Result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baseline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flattened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and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stabilized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.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Removal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of the 50 Hz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interference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and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its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harmonics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up to 200 Hz.</a:t>
            </a:r>
            <a:endParaRPr sz="170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47816" y="2878993"/>
            <a:ext cx="5576612" cy="327262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aseline_wander_removal_power_line_interference_cancellation_s1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679" y="2947796"/>
            <a:ext cx="5477683" cy="31489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02679" y="6151509"/>
            <a:ext cx="54312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1. baseline wander + power-line interference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5490" y="1148994"/>
            <a:ext cx="3905656" cy="143885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aseline_wander_remover_fir_filter_st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777" y="1190315"/>
            <a:ext cx="3782690" cy="1351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0135" y="6429766"/>
            <a:ext cx="5724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6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Stage 3–4: maternal QRS detection &amp; MECG cancellation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408316"/>
            <a:ext cx="4250624" cy="2754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Maternal QRS detection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PCA channel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combination (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maximises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SNR) + cross‑correlation matched filter</a:t>
            </a:r>
            <a:endParaRPr sz="1700" b="1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MECG cancellation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average P‑wave/QRS/T‑wave templates, each 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scaled independently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via least squares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Numerical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700" i="1" dirty="0" err="1">
                <a:solidFill>
                  <a:srgbClr val="2C3E50"/>
                </a:solidFill>
                <a:latin typeface="Calibri"/>
              </a:rPr>
              <a:t>Stability</a:t>
            </a:r>
            <a:r>
              <a:rPr lang="it-IT" sz="1700" dirty="0">
                <a:solidFill>
                  <a:srgbClr val="2C3E50"/>
                </a:solidFill>
              </a:rPr>
              <a:t>:</a:t>
            </a:r>
            <a:r>
              <a:rPr lang="it-IT" sz="1700" b="1" dirty="0">
                <a:solidFill>
                  <a:srgbClr val="2C3E50"/>
                </a:solidFill>
              </a:rPr>
              <a:t> </a:t>
            </a:r>
            <a:r>
              <a:rPr lang="it-IT" sz="1700" b="1" dirty="0" err="1">
                <a:solidFill>
                  <a:srgbClr val="2C3E50"/>
                </a:solidFill>
              </a:rPr>
              <a:t>ridge</a:t>
            </a:r>
            <a:r>
              <a:rPr lang="it-IT" sz="1700" b="1" dirty="0">
                <a:solidFill>
                  <a:srgbClr val="2C3E50"/>
                </a:solidFill>
              </a:rPr>
              <a:t> Tikhonov </a:t>
            </a:r>
            <a:r>
              <a:rPr lang="it-IT" sz="1700" b="1" dirty="0" err="1">
                <a:solidFill>
                  <a:srgbClr val="2C3E50"/>
                </a:solidFill>
              </a:rPr>
              <a:t>regularisation</a:t>
            </a:r>
            <a:r>
              <a:rPr lang="it-IT" sz="1700" b="1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applied</a:t>
            </a:r>
            <a:r>
              <a:rPr lang="it-IT" sz="1700" dirty="0">
                <a:solidFill>
                  <a:srgbClr val="2C3E50"/>
                </a:solidFill>
              </a:rPr>
              <a:t> to the </a:t>
            </a:r>
            <a:r>
              <a:rPr lang="it-IT" sz="1700" dirty="0" err="1">
                <a:solidFill>
                  <a:srgbClr val="2C3E50"/>
                </a:solidFill>
              </a:rPr>
              <a:t>least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squares</a:t>
            </a:r>
            <a:r>
              <a:rPr lang="it-IT" sz="1700" dirty="0">
                <a:solidFill>
                  <a:srgbClr val="2C3E50"/>
                </a:solidFill>
              </a:rPr>
              <a:t> </a:t>
            </a:r>
            <a:r>
              <a:rPr lang="it-IT" sz="1700" dirty="0" err="1">
                <a:solidFill>
                  <a:srgbClr val="2C3E50"/>
                </a:solidFill>
              </a:rPr>
              <a:t>fit</a:t>
            </a:r>
            <a:endParaRPr sz="170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45721" y="1179576"/>
            <a:ext cx="6070917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ternal_qrs_detection_and_mecg_cancellation_s4_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85" y="1234440"/>
            <a:ext cx="5961189" cy="4782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6108192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2. maternal QRS detection &amp; MECG cancellation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7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Stage 5: fetal QRS detection &amp; FECG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92982"/>
            <a:ext cx="4250624" cy="23852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</a:t>
            </a:r>
            <a:r>
              <a:rPr lang="it-IT" sz="1700" i="1" dirty="0">
                <a:solidFill>
                  <a:srgbClr val="2C3E50"/>
                </a:solidFill>
              </a:rPr>
              <a:t>Signal </a:t>
            </a:r>
            <a:r>
              <a:rPr lang="it-IT" sz="1700" i="1" dirty="0" err="1">
                <a:solidFill>
                  <a:srgbClr val="2C3E50"/>
                </a:solidFill>
              </a:rPr>
              <a:t>enhancement</a:t>
            </a:r>
            <a:r>
              <a:rPr lang="it-IT" sz="1700" dirty="0">
                <a:solidFill>
                  <a:srgbClr val="2C3E50"/>
                </a:solidFill>
              </a:rPr>
              <a:t>: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PCA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applied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to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the MECG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free signal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Candidate peaks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squared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signal 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energy thresholding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Refinement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cross‑correlation matched filter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Final step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synchronous averaging of ~150 beats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to 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achieve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an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SNR boost of √N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23376" y="1179576"/>
            <a:ext cx="4915607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ternal_and_fetal_qrs_detection.png"/>
          <p:cNvPicPr>
            <a:picLocks noChangeAspect="1"/>
          </p:cNvPicPr>
          <p:nvPr/>
        </p:nvPicPr>
        <p:blipFill>
          <a:blip r:embed="rId3"/>
          <a:srcRect l="50000" t="6000"/>
          <a:stretch>
            <a:fillRect/>
          </a:stretch>
        </p:blipFill>
        <p:spPr>
          <a:xfrm>
            <a:off x="5978240" y="1234440"/>
            <a:ext cx="4805879" cy="4782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6108192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3. fetal QRS detection &amp; FECG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8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Full pipeline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6192"/>
            <a:ext cx="11185855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Raw → cleaned → MECG removed → clean averaged fetal beat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1143" y="2688336"/>
            <a:ext cx="6709408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quential_analysis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07" y="2743200"/>
            <a:ext cx="6599680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4. Full pipeline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6400" y="644652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9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Qualitative validation against ground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931536"/>
            <a:ext cx="4250624" cy="170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Detected fetal QRS peaks (red) vs. ground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truth annotations (blue), ±50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tolerance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10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s</a:t>
            </a:r>
            <a:r>
              <a:rPr lang="it-IT" sz="1700" dirty="0" err="1">
                <a:solidFill>
                  <a:srgbClr val="2C3E50"/>
                </a:solidFill>
                <a:latin typeface="Calibri"/>
              </a:rPr>
              <a:t>econd</a:t>
            </a:r>
            <a:r>
              <a:rPr sz="1700" dirty="0">
                <a:solidFill>
                  <a:srgbClr val="2C3E50"/>
                </a:solidFill>
                <a:latin typeface="Calibri"/>
              </a:rPr>
              <a:t>, 4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channel strip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Averaged fetal morphology across 124 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ground truth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matched beats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18720" y="1214288"/>
            <a:ext cx="6724918" cy="482261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tection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84" y="1269152"/>
            <a:ext cx="6615190" cy="4712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6073479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5. Qualitative validation against 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10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Baseline comparison: the ICA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9" y="1417320"/>
            <a:ext cx="111858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FastICA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run on the same preprocessed data (baseline wander + PLI removed) as the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"blind"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alternative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Best independent component auto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selected by FHR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detection yield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1143" y="2688336"/>
            <a:ext cx="6709408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a_algorithm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07" y="2743200"/>
            <a:ext cx="6599680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6. Baseline comparison: the ICA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1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Success</a:t>
            </a:r>
          </a:p>
          <a:p>
            <a:pPr algn="l">
              <a:spcBef>
                <a:spcPts val="400"/>
              </a:spcBef>
            </a:pPr>
            <a:r>
              <a:rPr sz="1100" i="1">
                <a:solidFill>
                  <a:srgbClr val="5A6B78"/>
                </a:solidFill>
                <a:latin typeface="Calibri"/>
              </a:rPr>
              <a:t>coverage ≥ 60% of the recording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7828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Reliability</a:t>
            </a:r>
          </a:p>
          <a:p>
            <a:pPr algn="l">
              <a:spcBef>
                <a:spcPts val="400"/>
              </a:spcBef>
            </a:pPr>
            <a:r>
              <a:rPr sz="1100" i="1">
                <a:solidFill>
                  <a:srgbClr val="5A6B78"/>
                </a:solidFill>
                <a:latin typeface="Calibri"/>
              </a:rPr>
              <a:t>outlier: deviates &gt;10 bpm from its 10 s block's median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41217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SNR / SIR (dB, per channel j)</a:t>
            </a:r>
          </a:p>
          <a:p>
            <a:pPr algn="l">
              <a:spcBef>
                <a:spcPts val="400"/>
              </a:spcBef>
            </a:pPr>
            <a:r>
              <a:rPr sz="1100" i="1">
                <a:solidFill>
                  <a:srgbClr val="5A6B78"/>
                </a:solidFill>
                <a:latin typeface="Calibri"/>
              </a:rPr>
              <a:t>FECG, MECG, and noise power taken from S6, S4−S5, and the residual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94606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Precision / Recall / F1</a:t>
            </a:r>
          </a:p>
          <a:p>
            <a:pPr algn="l">
              <a:spcBef>
                <a:spcPts val="400"/>
              </a:spcBef>
            </a:pPr>
            <a:r>
              <a:rPr sz="1100" i="1">
                <a:solidFill>
                  <a:srgbClr val="5A6B78"/>
                </a:solidFill>
                <a:latin typeface="Calibri"/>
              </a:rPr>
              <a:t>matched to .fqrs ground truth at ±50 ms tolerance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7995"/>
            <a:ext cx="11185855" cy="888796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FHR-value MAE / RMSE (bpm)</a:t>
            </a:r>
            <a:endParaRPr lang="it-IT" sz="19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1100" i="1">
                <a:solidFill>
                  <a:srgbClr val="5A6B78"/>
                </a:solidFill>
                <a:latin typeface="Calibri"/>
              </a:rPr>
              <a:t>estimated vs. ground-truth FHR, common 1 s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2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  <p:pic>
        <p:nvPicPr>
          <p:cNvPr id="12" name="Picture 11" descr="eq_success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59" y="1495958"/>
            <a:ext cx="2240640" cy="365760"/>
          </a:xfrm>
          <a:prstGeom prst="rect">
            <a:avLst/>
          </a:prstGeom>
        </p:spPr>
      </p:pic>
      <p:pic>
        <p:nvPicPr>
          <p:cNvPr id="13" name="Picture 12" descr="eq_reliability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59" y="2549345"/>
            <a:ext cx="1060704" cy="365760"/>
          </a:xfrm>
          <a:prstGeom prst="rect">
            <a:avLst/>
          </a:prstGeom>
        </p:spPr>
      </p:pic>
      <p:pic>
        <p:nvPicPr>
          <p:cNvPr id="14" name="Picture 13" descr="eq_snr_sir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59" y="3392422"/>
            <a:ext cx="1360170" cy="365760"/>
          </a:xfrm>
          <a:prstGeom prst="rect">
            <a:avLst/>
          </a:prstGeom>
        </p:spPr>
      </p:pic>
      <p:pic>
        <p:nvPicPr>
          <p:cNvPr id="15" name="Picture 14" descr="eq_snr_sir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59" y="3813046"/>
            <a:ext cx="1311592" cy="365760"/>
          </a:xfrm>
          <a:prstGeom prst="rect">
            <a:avLst/>
          </a:prstGeom>
        </p:spPr>
      </p:pic>
      <p:pic>
        <p:nvPicPr>
          <p:cNvPr id="16" name="Picture 15" descr="eq_prf1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59" y="4445812"/>
            <a:ext cx="2690300" cy="365760"/>
          </a:xfrm>
          <a:prstGeom prst="rect">
            <a:avLst/>
          </a:prstGeom>
        </p:spPr>
      </p:pic>
      <p:pic>
        <p:nvPicPr>
          <p:cNvPr id="17" name="Picture 16" descr="eq_prf1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59" y="4866436"/>
            <a:ext cx="1675656" cy="365760"/>
          </a:xfrm>
          <a:prstGeom prst="rect">
            <a:avLst/>
          </a:prstGeom>
        </p:spPr>
      </p:pic>
      <p:pic>
        <p:nvPicPr>
          <p:cNvPr id="18" name="Picture 17" descr="eq_mae_rmse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59" y="5499201"/>
            <a:ext cx="1717146" cy="365760"/>
          </a:xfrm>
          <a:prstGeom prst="rect">
            <a:avLst/>
          </a:prstGeom>
        </p:spPr>
      </p:pic>
      <p:pic>
        <p:nvPicPr>
          <p:cNvPr id="19" name="Picture 18" descr="eq_mae_rmse_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59" y="5919825"/>
            <a:ext cx="1751978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Results I: success rate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FHR detection success rate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92%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vs.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96%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(23/25 vs. 24/25 records)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Mean FHR reliability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(feasible records only):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0.753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vs.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0.684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Box plots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 SA's spread is tighter and more consistent — ICA is bimodal (several near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perfect records, several collapsed as low as ~0.23)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7868" y="2688336"/>
            <a:ext cx="7975958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rformanc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732" y="2743200"/>
            <a:ext cx="7866230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7. success rate &amp;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3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Results II: ground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2C3E50"/>
                </a:solidFill>
                <a:latin typeface="Calibri"/>
              </a:rPr>
              <a:t>truth precision / recall / F1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9" y="3062341"/>
            <a:ext cx="4378463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77.4%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precision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67.1%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recall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71.9%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F1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59.7%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precision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53.1%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recall /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56.2%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F1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Matched against ground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truth annotations, ±50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tolerance, all 25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181" y="1746160"/>
            <a:ext cx="6476594" cy="4041382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round_truth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045" y="1779801"/>
            <a:ext cx="6370918" cy="39528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67045" y="5834844"/>
            <a:ext cx="63709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8. ground-truth precision / recall /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4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Results III: FHR</a:t>
            </a:r>
            <a:r>
              <a:rPr lang="it-IT" sz="28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2C3E50"/>
                </a:solidFill>
                <a:latin typeface="Calibri"/>
              </a:rPr>
              <a:t>value accuracy (MAE/RMSE)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8" y="1308443"/>
            <a:ext cx="1118585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13.5 bpm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/ RMSE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17.4 bpm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: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MAE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18.0 bpm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/ RMSE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 22.2 bpm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2167" y="2688336"/>
            <a:ext cx="7267359" cy="3383279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hr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031" y="2743200"/>
            <a:ext cx="7157631" cy="3273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9. FHR-value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5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Results IV: robustness to matching tolerance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110069"/>
            <a:ext cx="4250624" cy="10310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F1 recomputed at 10 / 25 / 50 / 75 / 100 </a:t>
            </a:r>
            <a:r>
              <a:rPr sz="1700" dirty="0" err="1">
                <a:solidFill>
                  <a:srgbClr val="2C3E50"/>
                </a:solidFill>
                <a:latin typeface="Calibri"/>
              </a:rPr>
              <a:t>ms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ground</a:t>
            </a:r>
            <a:r>
              <a:rPr lang="it-IT" sz="1700" dirty="0">
                <a:solidFill>
                  <a:srgbClr val="2C3E50"/>
                </a:solidFill>
                <a:latin typeface="Calibri"/>
              </a:rPr>
              <a:t> </a:t>
            </a:r>
            <a:r>
              <a:rPr sz="1700" dirty="0">
                <a:solidFill>
                  <a:srgbClr val="2C3E50"/>
                </a:solidFill>
                <a:latin typeface="Calibri"/>
              </a:rPr>
              <a:t>truth matching tolerances</a:t>
            </a:r>
          </a:p>
          <a:p>
            <a:pPr marL="274320" indent="-274320">
              <a:spcAft>
                <a:spcPts val="1200"/>
              </a:spcAft>
            </a:pPr>
            <a:r>
              <a:rPr sz="17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7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leads </a:t>
            </a:r>
            <a:r>
              <a:rPr sz="17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at </a:t>
            </a:r>
            <a:r>
              <a:rPr sz="1700" b="1" dirty="0">
                <a:solidFill>
                  <a:srgbClr val="2C3E50"/>
                </a:solidFill>
                <a:latin typeface="Calibri"/>
              </a:rPr>
              <a:t>every</a:t>
            </a:r>
            <a:r>
              <a:rPr sz="1700" dirty="0">
                <a:solidFill>
                  <a:srgbClr val="2C3E50"/>
                </a:solidFill>
                <a:latin typeface="Calibri"/>
              </a:rPr>
              <a:t> tolerance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18720" y="1518513"/>
            <a:ext cx="6724918" cy="4214165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oleranc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84" y="1573377"/>
            <a:ext cx="6615190" cy="41044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3584" y="5769254"/>
            <a:ext cx="661519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6B78"/>
                </a:solidFill>
                <a:latin typeface="Calibri"/>
              </a:rPr>
              <a:t>Figure 10. robustness to matching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6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3E50"/>
                </a:solidFill>
                <a:latin typeface="Calibri"/>
              </a:rPr>
              <a:t>Results V: signal quality drives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704"/>
            <a:ext cx="4250624" cy="2015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15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500" i="1" dirty="0" err="1">
                <a:solidFill>
                  <a:srgbClr val="2C3E50"/>
                </a:solidFill>
                <a:latin typeface="Calibri"/>
              </a:rPr>
              <a:t>Noise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i="1" dirty="0" err="1">
                <a:solidFill>
                  <a:srgbClr val="2C3E50"/>
                </a:solidFill>
                <a:latin typeface="Calibri"/>
              </a:rPr>
              <a:t>conditions</a:t>
            </a:r>
            <a:r>
              <a:rPr sz="1500" dirty="0">
                <a:solidFill>
                  <a:srgbClr val="2C3E50"/>
                </a:solidFill>
                <a:latin typeface="Calibri"/>
              </a:rPr>
              <a:t>: mean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SNR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≈ 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−4.9 dB</a:t>
            </a:r>
            <a:r>
              <a:rPr sz="1500" dirty="0">
                <a:solidFill>
                  <a:srgbClr val="2C3E50"/>
                </a:solidFill>
                <a:latin typeface="Calibri"/>
              </a:rPr>
              <a:t>, mean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SIR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≈ </a:t>
            </a:r>
            <a:r>
              <a:rPr sz="1500" b="1" dirty="0">
                <a:solidFill>
                  <a:srgbClr val="2C3E50"/>
                </a:solidFill>
                <a:latin typeface="Calibri"/>
              </a:rPr>
              <a:t>−12.0 dB</a:t>
            </a:r>
          </a:p>
          <a:p>
            <a:pPr marL="274320" indent="-274320">
              <a:spcAft>
                <a:spcPts val="1200"/>
              </a:spcAft>
            </a:pPr>
            <a:r>
              <a:rPr sz="15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SA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reliability degrades gracefully as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SNR/SIR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drop; </a:t>
            </a:r>
            <a:r>
              <a:rPr sz="15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sz="1500" dirty="0">
                <a:solidFill>
                  <a:srgbClr val="2C3E50"/>
                </a:solidFill>
                <a:latin typeface="Calibri"/>
              </a:rPr>
              <a:t> collapses more sharply</a:t>
            </a:r>
            <a:endParaRPr lang="it-IT" sz="1500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lang="it-IT" sz="15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Spearman </a:t>
            </a:r>
            <a:r>
              <a:rPr lang="el-GR" sz="1500" i="1" dirty="0">
                <a:solidFill>
                  <a:srgbClr val="2C3E50"/>
                </a:solidFill>
                <a:latin typeface="Calibri"/>
              </a:rPr>
              <a:t>ρ</a:t>
            </a:r>
            <a:r>
              <a:rPr lang="el-GR" sz="1500" dirty="0">
                <a:solidFill>
                  <a:srgbClr val="2C3E50"/>
                </a:solidFill>
                <a:latin typeface="Calibri"/>
              </a:rPr>
              <a:t>: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SA–SNR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0.87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(p&lt;0.001),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SA–SIR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0.50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(p=0.012);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ICA–SNR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0.10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(p=0.63), </a:t>
            </a:r>
            <a:r>
              <a:rPr lang="it-IT" sz="1500" i="1" dirty="0">
                <a:solidFill>
                  <a:srgbClr val="2C3E50"/>
                </a:solidFill>
                <a:latin typeface="Calibri"/>
              </a:rPr>
              <a:t>ICA–SIR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</a:t>
            </a:r>
            <a:r>
              <a:rPr lang="it-IT" sz="1500" b="1" dirty="0">
                <a:solidFill>
                  <a:srgbClr val="2C3E50"/>
                </a:solidFill>
                <a:latin typeface="Calibri"/>
              </a:rPr>
              <a:t>0.18</a:t>
            </a:r>
            <a:r>
              <a:rPr lang="it-IT" sz="1500" dirty="0">
                <a:solidFill>
                  <a:srgbClr val="2C3E50"/>
                </a:solidFill>
                <a:latin typeface="Calibri"/>
              </a:rPr>
              <a:t> (p=0.40)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7763" y="1045594"/>
            <a:ext cx="6140970" cy="4940935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nr_sir_vs_rel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463" y="1076376"/>
            <a:ext cx="5893570" cy="48793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67026" y="5971980"/>
            <a:ext cx="58024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6B78"/>
                </a:solidFill>
                <a:latin typeface="Calibri"/>
              </a:rPr>
              <a:t>Figure 11. signal quality drives reliability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6436" y="3572878"/>
            <a:ext cx="3332384" cy="261540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liability_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434" y="3599816"/>
            <a:ext cx="3294387" cy="2559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A6B78"/>
                </a:solidFill>
                <a:latin typeface="Calibri"/>
              </a:rPr>
              <a:t>1</a:t>
            </a:r>
            <a:r>
              <a:rPr lang="it-IT" sz="900" dirty="0">
                <a:solidFill>
                  <a:srgbClr val="5A6B78"/>
                </a:solidFill>
                <a:latin typeface="Calibri"/>
              </a:rPr>
              <a:t>7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737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2C3E50"/>
                </a:solidFill>
                <a:latin typeface="Calibri"/>
              </a:rPr>
              <a:t>Discussion</a:t>
            </a:r>
            <a:r>
              <a:rPr lang="it-IT" sz="2800" b="1" dirty="0">
                <a:solidFill>
                  <a:srgbClr val="2C3E50"/>
                </a:solidFill>
              </a:rPr>
              <a:t> &amp; </a:t>
            </a:r>
            <a:r>
              <a:rPr lang="it-IT" sz="2800" b="1" dirty="0" err="1">
                <a:solidFill>
                  <a:srgbClr val="2C3E50"/>
                </a:solidFill>
              </a:rPr>
              <a:t>Conclusions</a:t>
            </a:r>
            <a:endParaRPr sz="2800" b="1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05840" cy="381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613392"/>
            <a:ext cx="11185855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lang="en-US" sz="2000" dirty="0">
                <a:solidFill>
                  <a:srgbClr val="16A085"/>
                </a:solidFill>
                <a:latin typeface="Calibri"/>
              </a:rPr>
              <a:t>▪  </a:t>
            </a:r>
            <a:r>
              <a:rPr lang="en-US" sz="2000" i="1" dirty="0">
                <a:solidFill>
                  <a:srgbClr val="2C3E50"/>
                </a:solidFill>
                <a:latin typeface="Calibri"/>
              </a:rPr>
              <a:t>SA </a:t>
            </a:r>
            <a:r>
              <a:rPr lang="en-US" sz="2000" dirty="0">
                <a:solidFill>
                  <a:srgbClr val="2C3E50"/>
                </a:solidFill>
                <a:latin typeface="Calibri"/>
              </a:rPr>
              <a:t>outperforms </a:t>
            </a:r>
            <a:r>
              <a:rPr lang="en-US" sz="2000" i="1" dirty="0">
                <a:solidFill>
                  <a:srgbClr val="2C3E50"/>
                </a:solidFill>
                <a:latin typeface="Calibri"/>
              </a:rPr>
              <a:t>ICA</a:t>
            </a:r>
            <a:r>
              <a:rPr lang="en-US" sz="2000" dirty="0">
                <a:solidFill>
                  <a:srgbClr val="2C3E50"/>
                </a:solidFill>
                <a:latin typeface="Calibri"/>
              </a:rPr>
              <a:t> by leveraging known signal structure </a:t>
            </a:r>
            <a:r>
              <a:rPr lang="en-US" sz="2000" dirty="0">
                <a:solidFill>
                  <a:srgbClr val="2C3E50"/>
                </a:solidFill>
                <a:latin typeface="Calibri"/>
                <a:sym typeface="Wingdings" panose="05000000000000000000" pitchFamily="2" charset="2"/>
              </a:rPr>
              <a:t>yielding better accuracy in low </a:t>
            </a:r>
            <a:r>
              <a:rPr lang="en-US" sz="2000" i="1" dirty="0">
                <a:solidFill>
                  <a:srgbClr val="2C3E50"/>
                </a:solidFill>
                <a:latin typeface="Calibri"/>
                <a:sym typeface="Wingdings" panose="05000000000000000000" pitchFamily="2" charset="2"/>
              </a:rPr>
              <a:t>SNR</a:t>
            </a:r>
            <a:r>
              <a:rPr lang="en-US" sz="2000" dirty="0">
                <a:solidFill>
                  <a:srgbClr val="2C3E50"/>
                </a:solidFill>
                <a:latin typeface="Calibri"/>
                <a:sym typeface="Wingdings" panose="05000000000000000000" pitchFamily="2" charset="2"/>
              </a:rPr>
              <a:t> conditions,</a:t>
            </a:r>
          </a:p>
          <a:p>
            <a:pPr marL="274320" indent="-274320">
              <a:spcAft>
                <a:spcPts val="1200"/>
              </a:spcAft>
            </a:pPr>
            <a:r>
              <a:rPr lang="en-US" sz="2000" dirty="0">
                <a:solidFill>
                  <a:srgbClr val="16A085"/>
                </a:solidFill>
              </a:rPr>
              <a:t>▪  </a:t>
            </a:r>
            <a:r>
              <a:rPr lang="en-US" sz="2000" dirty="0">
                <a:solidFill>
                  <a:srgbClr val="2C3E50"/>
                </a:solidFill>
              </a:rPr>
              <a:t>showing expected lower </a:t>
            </a:r>
            <a:r>
              <a:rPr lang="en-US" sz="2000" i="1" dirty="0">
                <a:solidFill>
                  <a:srgbClr val="2C3E50"/>
                </a:solidFill>
              </a:rPr>
              <a:t>recall</a:t>
            </a:r>
            <a:r>
              <a:rPr lang="en-US" sz="2000" dirty="0">
                <a:solidFill>
                  <a:srgbClr val="2C3E50"/>
                </a:solidFill>
              </a:rPr>
              <a:t> in specific records (a18, a09, a02, a11, a15) consistent with the paper’s gestational age hypothesis,</a:t>
            </a:r>
            <a:endParaRPr lang="en-US" sz="2000" dirty="0">
              <a:solidFill>
                <a:srgbClr val="2C3E50"/>
              </a:solidFill>
              <a:latin typeface="Calibri"/>
            </a:endParaRPr>
          </a:p>
          <a:p>
            <a:pPr marL="274320" indent="-274320">
              <a:spcAft>
                <a:spcPts val="1200"/>
              </a:spcAft>
            </a:pPr>
            <a:r>
              <a:rPr lang="en-US" sz="2000" dirty="0">
                <a:solidFill>
                  <a:srgbClr val="16A085"/>
                </a:solidFill>
              </a:rPr>
              <a:t>▪  </a:t>
            </a:r>
            <a:r>
              <a:rPr lang="en-US" sz="2000" dirty="0">
                <a:solidFill>
                  <a:srgbClr val="2C3E50"/>
                </a:solidFill>
              </a:rPr>
              <a:t>supporting the practical development of affordable and </a:t>
            </a:r>
            <a:r>
              <a:rPr lang="en-US" sz="2000" i="1" dirty="0">
                <a:solidFill>
                  <a:srgbClr val="2C3E50"/>
                </a:solidFill>
              </a:rPr>
              <a:t>non-invasive home-based</a:t>
            </a:r>
            <a:r>
              <a:rPr lang="en-US" sz="2000" dirty="0">
                <a:solidFill>
                  <a:srgbClr val="2C3E50"/>
                </a:solidFill>
              </a:rPr>
              <a:t> monitoring systems</a:t>
            </a:r>
            <a:endParaRPr lang="en-US" sz="2000" dirty="0">
              <a:solidFill>
                <a:srgbClr val="16A08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B7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012608"/>
            <a:ext cx="11185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dirty="0">
                <a:solidFill>
                  <a:srgbClr val="2C3E50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5A6B78"/>
                </a:solidFill>
                <a:latin typeface="Calibri"/>
              </a:rPr>
              <a:t>Robust Fetal ECG Detection -- Sequential Analysis vs. 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8692" y="6446520"/>
            <a:ext cx="3000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it-IT" sz="900" dirty="0">
                <a:solidFill>
                  <a:srgbClr val="5A6B78"/>
                </a:solidFill>
                <a:latin typeface="Calibri"/>
              </a:rPr>
              <a:t>19</a:t>
            </a:r>
            <a:endParaRPr sz="900" dirty="0">
              <a:solidFill>
                <a:srgbClr val="5A6B78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1374</Words>
  <Application>Microsoft Office PowerPoint</Application>
  <PresentationFormat>Widescreen</PresentationFormat>
  <Paragraphs>145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Cerutti</cp:lastModifiedBy>
  <cp:revision>32</cp:revision>
  <dcterms:created xsi:type="dcterms:W3CDTF">2013-01-27T09:14:16Z</dcterms:created>
  <dcterms:modified xsi:type="dcterms:W3CDTF">2026-09-07T16:46:02Z</dcterms:modified>
  <cp:category/>
</cp:coreProperties>
</file>